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94647"/>
  </p:normalViewPr>
  <p:slideViewPr>
    <p:cSldViewPr snapToGrid="0">
      <p:cViewPr varScale="1">
        <p:scale>
          <a:sx n="118" d="100"/>
          <a:sy n="118" d="100"/>
        </p:scale>
        <p:origin x="208" y="9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334A0C-C91B-4C27-ADE0-225FAEB836DF}"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A86018D-79A7-4652-AC3B-FB74B89A3D06}">
      <dgm:prSet/>
      <dgm:spPr/>
      <dgm:t>
        <a:bodyPr/>
        <a:lstStyle/>
        <a:p>
          <a:pPr>
            <a:defRPr cap="all"/>
          </a:pPr>
          <a:r>
            <a:rPr lang="en-US"/>
            <a:t>Testing reduces transmission</a:t>
          </a:r>
        </a:p>
      </dgm:t>
    </dgm:pt>
    <dgm:pt modelId="{DDEEF8B7-442B-4A37-A4CF-3ECE75411765}" type="parTrans" cxnId="{68E14528-B08C-4DD8-9353-45120AA1AF48}">
      <dgm:prSet/>
      <dgm:spPr/>
      <dgm:t>
        <a:bodyPr/>
        <a:lstStyle/>
        <a:p>
          <a:endParaRPr lang="en-US"/>
        </a:p>
      </dgm:t>
    </dgm:pt>
    <dgm:pt modelId="{CD3BB8DB-D57B-47B8-BEED-5EC11EB79D15}" type="sibTrans" cxnId="{68E14528-B08C-4DD8-9353-45120AA1AF48}">
      <dgm:prSet/>
      <dgm:spPr/>
      <dgm:t>
        <a:bodyPr/>
        <a:lstStyle/>
        <a:p>
          <a:endParaRPr lang="en-US"/>
        </a:p>
      </dgm:t>
    </dgm:pt>
    <dgm:pt modelId="{AF90904E-87BE-4247-91ED-A91230A6942C}">
      <dgm:prSet/>
      <dgm:spPr/>
      <dgm:t>
        <a:bodyPr/>
        <a:lstStyle/>
        <a:p>
          <a:pPr>
            <a:defRPr cap="all"/>
          </a:pPr>
          <a:r>
            <a:rPr lang="en-US"/>
            <a:t>Effects are delayed but reliable</a:t>
          </a:r>
        </a:p>
      </dgm:t>
    </dgm:pt>
    <dgm:pt modelId="{3989082C-C65D-4199-9EAC-5E2FFD03D493}" type="parTrans" cxnId="{3315DAD3-B64D-41CC-B8B7-0D8EAAFCC769}">
      <dgm:prSet/>
      <dgm:spPr/>
      <dgm:t>
        <a:bodyPr/>
        <a:lstStyle/>
        <a:p>
          <a:endParaRPr lang="en-US"/>
        </a:p>
      </dgm:t>
    </dgm:pt>
    <dgm:pt modelId="{CCF2AB16-EF9D-4C69-AF5E-BF9AA3044053}" type="sibTrans" cxnId="{3315DAD3-B64D-41CC-B8B7-0D8EAAFCC769}">
      <dgm:prSet/>
      <dgm:spPr/>
      <dgm:t>
        <a:bodyPr/>
        <a:lstStyle/>
        <a:p>
          <a:endParaRPr lang="en-US"/>
        </a:p>
      </dgm:t>
    </dgm:pt>
    <dgm:pt modelId="{94843496-EBFC-40FE-9372-1D01B9BCB441}">
      <dgm:prSet/>
      <dgm:spPr/>
      <dgm:t>
        <a:bodyPr/>
        <a:lstStyle/>
        <a:p>
          <a:pPr>
            <a:defRPr cap="all"/>
          </a:pPr>
          <a:r>
            <a:rPr lang="en-US"/>
            <a:t>Results align with literature</a:t>
          </a:r>
        </a:p>
      </dgm:t>
    </dgm:pt>
    <dgm:pt modelId="{7265EA70-C4A5-45F0-9F44-A0D4E2E42E6C}" type="parTrans" cxnId="{211772A3-8A18-45C0-B9B7-C8E0E4502415}">
      <dgm:prSet/>
      <dgm:spPr/>
      <dgm:t>
        <a:bodyPr/>
        <a:lstStyle/>
        <a:p>
          <a:endParaRPr lang="en-US"/>
        </a:p>
      </dgm:t>
    </dgm:pt>
    <dgm:pt modelId="{3D4FD4C2-56FC-4EE2-A05F-3DF3B5AF0AF9}" type="sibTrans" cxnId="{211772A3-8A18-45C0-B9B7-C8E0E4502415}">
      <dgm:prSet/>
      <dgm:spPr/>
      <dgm:t>
        <a:bodyPr/>
        <a:lstStyle/>
        <a:p>
          <a:endParaRPr lang="en-US"/>
        </a:p>
      </dgm:t>
    </dgm:pt>
    <dgm:pt modelId="{0037CCF4-6EDE-4746-89D8-2BD7BE6F7FC0}" type="pres">
      <dgm:prSet presAssocID="{2B334A0C-C91B-4C27-ADE0-225FAEB836DF}" presName="root" presStyleCnt="0">
        <dgm:presLayoutVars>
          <dgm:dir/>
          <dgm:resizeHandles val="exact"/>
        </dgm:presLayoutVars>
      </dgm:prSet>
      <dgm:spPr/>
    </dgm:pt>
    <dgm:pt modelId="{64658608-806D-4ACC-B675-9E6C5F037174}" type="pres">
      <dgm:prSet presAssocID="{FA86018D-79A7-4652-AC3B-FB74B89A3D06}" presName="compNode" presStyleCnt="0"/>
      <dgm:spPr/>
    </dgm:pt>
    <dgm:pt modelId="{9408153C-96C3-4E2B-A3A0-1FBAF29B53CB}" type="pres">
      <dgm:prSet presAssocID="{FA86018D-79A7-4652-AC3B-FB74B89A3D06}" presName="iconBgRect" presStyleLbl="bgShp" presStyleIdx="0" presStyleCnt="3"/>
      <dgm:spPr/>
    </dgm:pt>
    <dgm:pt modelId="{B21323B8-D9C6-4188-B198-3F8F234C3B0F}" type="pres">
      <dgm:prSet presAssocID="{FA86018D-79A7-4652-AC3B-FB74B89A3D0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5FC7B61-E05A-4D6E-8608-B96D2B33F9CF}" type="pres">
      <dgm:prSet presAssocID="{FA86018D-79A7-4652-AC3B-FB74B89A3D06}" presName="spaceRect" presStyleCnt="0"/>
      <dgm:spPr/>
    </dgm:pt>
    <dgm:pt modelId="{D95006E2-E6B5-4819-AFC4-D9B6FF535BFC}" type="pres">
      <dgm:prSet presAssocID="{FA86018D-79A7-4652-AC3B-FB74B89A3D06}" presName="textRect" presStyleLbl="revTx" presStyleIdx="0" presStyleCnt="3">
        <dgm:presLayoutVars>
          <dgm:chMax val="1"/>
          <dgm:chPref val="1"/>
        </dgm:presLayoutVars>
      </dgm:prSet>
      <dgm:spPr/>
    </dgm:pt>
    <dgm:pt modelId="{D8BD70B6-36C9-4B8E-802E-CCE1A7BA831D}" type="pres">
      <dgm:prSet presAssocID="{CD3BB8DB-D57B-47B8-BEED-5EC11EB79D15}" presName="sibTrans" presStyleCnt="0"/>
      <dgm:spPr/>
    </dgm:pt>
    <dgm:pt modelId="{63BE834F-DE3D-42B5-B7A4-2112970863A9}" type="pres">
      <dgm:prSet presAssocID="{AF90904E-87BE-4247-91ED-A91230A6942C}" presName="compNode" presStyleCnt="0"/>
      <dgm:spPr/>
    </dgm:pt>
    <dgm:pt modelId="{A196FD53-5E18-47A3-9E6B-BB331E2238BE}" type="pres">
      <dgm:prSet presAssocID="{AF90904E-87BE-4247-91ED-A91230A6942C}" presName="iconBgRect" presStyleLbl="bgShp" presStyleIdx="1" presStyleCnt="3"/>
      <dgm:spPr/>
    </dgm:pt>
    <dgm:pt modelId="{9937B01A-BE51-493D-A7E0-75F0693B0880}" type="pres">
      <dgm:prSet presAssocID="{AF90904E-87BE-4247-91ED-A91230A6942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2A9D7529-ED83-47E5-8986-A557827CD18C}" type="pres">
      <dgm:prSet presAssocID="{AF90904E-87BE-4247-91ED-A91230A6942C}" presName="spaceRect" presStyleCnt="0"/>
      <dgm:spPr/>
    </dgm:pt>
    <dgm:pt modelId="{1D5050A2-622E-4C63-B441-19F1CAC13E62}" type="pres">
      <dgm:prSet presAssocID="{AF90904E-87BE-4247-91ED-A91230A6942C}" presName="textRect" presStyleLbl="revTx" presStyleIdx="1" presStyleCnt="3">
        <dgm:presLayoutVars>
          <dgm:chMax val="1"/>
          <dgm:chPref val="1"/>
        </dgm:presLayoutVars>
      </dgm:prSet>
      <dgm:spPr/>
    </dgm:pt>
    <dgm:pt modelId="{A2FB25F2-F97B-4307-B411-253B2FF36CBA}" type="pres">
      <dgm:prSet presAssocID="{CCF2AB16-EF9D-4C69-AF5E-BF9AA3044053}" presName="sibTrans" presStyleCnt="0"/>
      <dgm:spPr/>
    </dgm:pt>
    <dgm:pt modelId="{EA168671-62BD-42D0-9E61-6330D754B26F}" type="pres">
      <dgm:prSet presAssocID="{94843496-EBFC-40FE-9372-1D01B9BCB441}" presName="compNode" presStyleCnt="0"/>
      <dgm:spPr/>
    </dgm:pt>
    <dgm:pt modelId="{50440597-6A95-46C7-994B-8C1CF8A5679F}" type="pres">
      <dgm:prSet presAssocID="{94843496-EBFC-40FE-9372-1D01B9BCB441}" presName="iconBgRect" presStyleLbl="bgShp" presStyleIdx="2" presStyleCnt="3"/>
      <dgm:spPr/>
    </dgm:pt>
    <dgm:pt modelId="{F73339BC-0486-49B6-9CA9-AE7BD79C29F3}" type="pres">
      <dgm:prSet presAssocID="{94843496-EBFC-40FE-9372-1D01B9BCB44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BCFEC76B-8860-44CF-B07C-8B6D3151272B}" type="pres">
      <dgm:prSet presAssocID="{94843496-EBFC-40FE-9372-1D01B9BCB441}" presName="spaceRect" presStyleCnt="0"/>
      <dgm:spPr/>
    </dgm:pt>
    <dgm:pt modelId="{8CD9F8BF-1A1B-4133-8CB0-566B82316793}" type="pres">
      <dgm:prSet presAssocID="{94843496-EBFC-40FE-9372-1D01B9BCB441}" presName="textRect" presStyleLbl="revTx" presStyleIdx="2" presStyleCnt="3">
        <dgm:presLayoutVars>
          <dgm:chMax val="1"/>
          <dgm:chPref val="1"/>
        </dgm:presLayoutVars>
      </dgm:prSet>
      <dgm:spPr/>
    </dgm:pt>
  </dgm:ptLst>
  <dgm:cxnLst>
    <dgm:cxn modelId="{68E14528-B08C-4DD8-9353-45120AA1AF48}" srcId="{2B334A0C-C91B-4C27-ADE0-225FAEB836DF}" destId="{FA86018D-79A7-4652-AC3B-FB74B89A3D06}" srcOrd="0" destOrd="0" parTransId="{DDEEF8B7-442B-4A37-A4CF-3ECE75411765}" sibTransId="{CD3BB8DB-D57B-47B8-BEED-5EC11EB79D15}"/>
    <dgm:cxn modelId="{B5B3489E-006F-4BBA-B41F-AD3D0644B9BD}" type="presOf" srcId="{AF90904E-87BE-4247-91ED-A91230A6942C}" destId="{1D5050A2-622E-4C63-B441-19F1CAC13E62}" srcOrd="0" destOrd="0" presId="urn:microsoft.com/office/officeart/2018/5/layout/IconCircleLabelList"/>
    <dgm:cxn modelId="{211772A3-8A18-45C0-B9B7-C8E0E4502415}" srcId="{2B334A0C-C91B-4C27-ADE0-225FAEB836DF}" destId="{94843496-EBFC-40FE-9372-1D01B9BCB441}" srcOrd="2" destOrd="0" parTransId="{7265EA70-C4A5-45F0-9F44-A0D4E2E42E6C}" sibTransId="{3D4FD4C2-56FC-4EE2-A05F-3DF3B5AF0AF9}"/>
    <dgm:cxn modelId="{B9C99DA4-F4D0-47BE-B252-204157FA296F}" type="presOf" srcId="{94843496-EBFC-40FE-9372-1D01B9BCB441}" destId="{8CD9F8BF-1A1B-4133-8CB0-566B82316793}" srcOrd="0" destOrd="0" presId="urn:microsoft.com/office/officeart/2018/5/layout/IconCircleLabelList"/>
    <dgm:cxn modelId="{DF97AEA8-E0B5-4294-ACB5-07386706A6EC}" type="presOf" srcId="{2B334A0C-C91B-4C27-ADE0-225FAEB836DF}" destId="{0037CCF4-6EDE-4746-89D8-2BD7BE6F7FC0}" srcOrd="0" destOrd="0" presId="urn:microsoft.com/office/officeart/2018/5/layout/IconCircleLabelList"/>
    <dgm:cxn modelId="{91D757CB-703E-462C-B6C3-2EA328597176}" type="presOf" srcId="{FA86018D-79A7-4652-AC3B-FB74B89A3D06}" destId="{D95006E2-E6B5-4819-AFC4-D9B6FF535BFC}" srcOrd="0" destOrd="0" presId="urn:microsoft.com/office/officeart/2018/5/layout/IconCircleLabelList"/>
    <dgm:cxn modelId="{3315DAD3-B64D-41CC-B8B7-0D8EAAFCC769}" srcId="{2B334A0C-C91B-4C27-ADE0-225FAEB836DF}" destId="{AF90904E-87BE-4247-91ED-A91230A6942C}" srcOrd="1" destOrd="0" parTransId="{3989082C-C65D-4199-9EAC-5E2FFD03D493}" sibTransId="{CCF2AB16-EF9D-4C69-AF5E-BF9AA3044053}"/>
    <dgm:cxn modelId="{0CA0B185-4E92-4B8B-9ECB-A34EA6A74BF3}" type="presParOf" srcId="{0037CCF4-6EDE-4746-89D8-2BD7BE6F7FC0}" destId="{64658608-806D-4ACC-B675-9E6C5F037174}" srcOrd="0" destOrd="0" presId="urn:microsoft.com/office/officeart/2018/5/layout/IconCircleLabelList"/>
    <dgm:cxn modelId="{DB4AE93E-1E87-45FA-BEC5-98F09D802C05}" type="presParOf" srcId="{64658608-806D-4ACC-B675-9E6C5F037174}" destId="{9408153C-96C3-4E2B-A3A0-1FBAF29B53CB}" srcOrd="0" destOrd="0" presId="urn:microsoft.com/office/officeart/2018/5/layout/IconCircleLabelList"/>
    <dgm:cxn modelId="{DB2EEBD2-87E3-4F09-88A5-1A8AED6E9476}" type="presParOf" srcId="{64658608-806D-4ACC-B675-9E6C5F037174}" destId="{B21323B8-D9C6-4188-B198-3F8F234C3B0F}" srcOrd="1" destOrd="0" presId="urn:microsoft.com/office/officeart/2018/5/layout/IconCircleLabelList"/>
    <dgm:cxn modelId="{12F3D1FC-00CF-4CDF-A65C-C2450FE99830}" type="presParOf" srcId="{64658608-806D-4ACC-B675-9E6C5F037174}" destId="{85FC7B61-E05A-4D6E-8608-B96D2B33F9CF}" srcOrd="2" destOrd="0" presId="urn:microsoft.com/office/officeart/2018/5/layout/IconCircleLabelList"/>
    <dgm:cxn modelId="{9EBE6E55-2649-4671-8212-3C8BF0283E94}" type="presParOf" srcId="{64658608-806D-4ACC-B675-9E6C5F037174}" destId="{D95006E2-E6B5-4819-AFC4-D9B6FF535BFC}" srcOrd="3" destOrd="0" presId="urn:microsoft.com/office/officeart/2018/5/layout/IconCircleLabelList"/>
    <dgm:cxn modelId="{521364EB-5ABD-4D77-90AC-D86FA95D88CF}" type="presParOf" srcId="{0037CCF4-6EDE-4746-89D8-2BD7BE6F7FC0}" destId="{D8BD70B6-36C9-4B8E-802E-CCE1A7BA831D}" srcOrd="1" destOrd="0" presId="urn:microsoft.com/office/officeart/2018/5/layout/IconCircleLabelList"/>
    <dgm:cxn modelId="{64C46ADF-2778-44F4-9BA6-ECACA814732F}" type="presParOf" srcId="{0037CCF4-6EDE-4746-89D8-2BD7BE6F7FC0}" destId="{63BE834F-DE3D-42B5-B7A4-2112970863A9}" srcOrd="2" destOrd="0" presId="urn:microsoft.com/office/officeart/2018/5/layout/IconCircleLabelList"/>
    <dgm:cxn modelId="{7E45DE13-6C5E-4888-BDC2-3829E1F50976}" type="presParOf" srcId="{63BE834F-DE3D-42B5-B7A4-2112970863A9}" destId="{A196FD53-5E18-47A3-9E6B-BB331E2238BE}" srcOrd="0" destOrd="0" presId="urn:microsoft.com/office/officeart/2018/5/layout/IconCircleLabelList"/>
    <dgm:cxn modelId="{016486FA-DFB8-436D-987D-D37935E96468}" type="presParOf" srcId="{63BE834F-DE3D-42B5-B7A4-2112970863A9}" destId="{9937B01A-BE51-493D-A7E0-75F0693B0880}" srcOrd="1" destOrd="0" presId="urn:microsoft.com/office/officeart/2018/5/layout/IconCircleLabelList"/>
    <dgm:cxn modelId="{C8DAE1E1-9201-4C52-978A-C1DD19320C31}" type="presParOf" srcId="{63BE834F-DE3D-42B5-B7A4-2112970863A9}" destId="{2A9D7529-ED83-47E5-8986-A557827CD18C}" srcOrd="2" destOrd="0" presId="urn:microsoft.com/office/officeart/2018/5/layout/IconCircleLabelList"/>
    <dgm:cxn modelId="{A5AF50EE-54C6-42B1-8DFF-B526128CC7C2}" type="presParOf" srcId="{63BE834F-DE3D-42B5-B7A4-2112970863A9}" destId="{1D5050A2-622E-4C63-B441-19F1CAC13E62}" srcOrd="3" destOrd="0" presId="urn:microsoft.com/office/officeart/2018/5/layout/IconCircleLabelList"/>
    <dgm:cxn modelId="{053667ED-AF71-4DD2-B4C4-8789BD46386F}" type="presParOf" srcId="{0037CCF4-6EDE-4746-89D8-2BD7BE6F7FC0}" destId="{A2FB25F2-F97B-4307-B411-253B2FF36CBA}" srcOrd="3" destOrd="0" presId="urn:microsoft.com/office/officeart/2018/5/layout/IconCircleLabelList"/>
    <dgm:cxn modelId="{ACE3BC41-055D-435E-BF08-E1D474E18054}" type="presParOf" srcId="{0037CCF4-6EDE-4746-89D8-2BD7BE6F7FC0}" destId="{EA168671-62BD-42D0-9E61-6330D754B26F}" srcOrd="4" destOrd="0" presId="urn:microsoft.com/office/officeart/2018/5/layout/IconCircleLabelList"/>
    <dgm:cxn modelId="{1EBBF84A-5942-45C1-8968-78CFCAA47FB4}" type="presParOf" srcId="{EA168671-62BD-42D0-9E61-6330D754B26F}" destId="{50440597-6A95-46C7-994B-8C1CF8A5679F}" srcOrd="0" destOrd="0" presId="urn:microsoft.com/office/officeart/2018/5/layout/IconCircleLabelList"/>
    <dgm:cxn modelId="{F6342394-D2CE-4444-A0CF-0E9B59A3B4E1}" type="presParOf" srcId="{EA168671-62BD-42D0-9E61-6330D754B26F}" destId="{F73339BC-0486-49B6-9CA9-AE7BD79C29F3}" srcOrd="1" destOrd="0" presId="urn:microsoft.com/office/officeart/2018/5/layout/IconCircleLabelList"/>
    <dgm:cxn modelId="{6E299884-9DDA-4141-BE5E-4EBEBBE44414}" type="presParOf" srcId="{EA168671-62BD-42D0-9E61-6330D754B26F}" destId="{BCFEC76B-8860-44CF-B07C-8B6D3151272B}" srcOrd="2" destOrd="0" presId="urn:microsoft.com/office/officeart/2018/5/layout/IconCircleLabelList"/>
    <dgm:cxn modelId="{E90E0BA2-182F-42CF-B618-FC1335D73AA5}" type="presParOf" srcId="{EA168671-62BD-42D0-9E61-6330D754B26F}" destId="{8CD9F8BF-1A1B-4133-8CB0-566B82316793}"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A8934A-72C9-46F5-BF62-7CE17DB09AF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F3121CE-778E-46E2-B123-AFD5CA5B3B7A}">
      <dgm:prSet/>
      <dgm:spPr/>
      <dgm:t>
        <a:bodyPr/>
        <a:lstStyle/>
        <a:p>
          <a:pPr>
            <a:defRPr cap="all"/>
          </a:pPr>
          <a:r>
            <a:rPr lang="en-US"/>
            <a:t>Observational data</a:t>
          </a:r>
        </a:p>
      </dgm:t>
    </dgm:pt>
    <dgm:pt modelId="{B26B5E44-73F1-42FC-B17A-6EB6AB33D0BF}" type="parTrans" cxnId="{EA09F082-9FDC-4FC2-AAF2-3EB698BFC74E}">
      <dgm:prSet/>
      <dgm:spPr/>
      <dgm:t>
        <a:bodyPr/>
        <a:lstStyle/>
        <a:p>
          <a:endParaRPr lang="en-US"/>
        </a:p>
      </dgm:t>
    </dgm:pt>
    <dgm:pt modelId="{AEFB0002-40D4-4BA6-B5FF-DD9C588D9E1E}" type="sibTrans" cxnId="{EA09F082-9FDC-4FC2-AAF2-3EB698BFC74E}">
      <dgm:prSet/>
      <dgm:spPr/>
      <dgm:t>
        <a:bodyPr/>
        <a:lstStyle/>
        <a:p>
          <a:endParaRPr lang="en-US"/>
        </a:p>
      </dgm:t>
    </dgm:pt>
    <dgm:pt modelId="{46E871C3-50CC-49B5-9FF7-E3746A175A54}">
      <dgm:prSet/>
      <dgm:spPr/>
      <dgm:t>
        <a:bodyPr/>
        <a:lstStyle/>
        <a:p>
          <a:pPr>
            <a:defRPr cap="all"/>
          </a:pPr>
          <a:r>
            <a:rPr lang="en-US"/>
            <a:t>Variation in country reporting</a:t>
          </a:r>
        </a:p>
      </dgm:t>
    </dgm:pt>
    <dgm:pt modelId="{911109BA-6576-4773-A0CA-8A775B04A8BB}" type="parTrans" cxnId="{7A686108-EB4F-4027-8868-895C2ED3E8DA}">
      <dgm:prSet/>
      <dgm:spPr/>
      <dgm:t>
        <a:bodyPr/>
        <a:lstStyle/>
        <a:p>
          <a:endParaRPr lang="en-US"/>
        </a:p>
      </dgm:t>
    </dgm:pt>
    <dgm:pt modelId="{47231DE6-8F11-470F-BFEF-8D096F83F108}" type="sibTrans" cxnId="{7A686108-EB4F-4027-8868-895C2ED3E8DA}">
      <dgm:prSet/>
      <dgm:spPr/>
      <dgm:t>
        <a:bodyPr/>
        <a:lstStyle/>
        <a:p>
          <a:endParaRPr lang="en-US"/>
        </a:p>
      </dgm:t>
    </dgm:pt>
    <dgm:pt modelId="{5D42157C-CD73-439A-AE9D-D9C72DB5D27A}">
      <dgm:prSet/>
      <dgm:spPr/>
      <dgm:t>
        <a:bodyPr/>
        <a:lstStyle/>
        <a:p>
          <a:pPr>
            <a:defRPr cap="all"/>
          </a:pPr>
          <a:r>
            <a:rPr lang="en-US"/>
            <a:t>Cannot measure all policy differences</a:t>
          </a:r>
        </a:p>
      </dgm:t>
    </dgm:pt>
    <dgm:pt modelId="{1A458806-07B4-4617-8B1B-F2994FC35015}" type="parTrans" cxnId="{CA912B23-E65B-4932-9DEB-0D10FD943179}">
      <dgm:prSet/>
      <dgm:spPr/>
      <dgm:t>
        <a:bodyPr/>
        <a:lstStyle/>
        <a:p>
          <a:endParaRPr lang="en-US"/>
        </a:p>
      </dgm:t>
    </dgm:pt>
    <dgm:pt modelId="{22FD9D4E-EA83-4FFA-BBB4-FD3C14A38A4A}" type="sibTrans" cxnId="{CA912B23-E65B-4932-9DEB-0D10FD943179}">
      <dgm:prSet/>
      <dgm:spPr/>
      <dgm:t>
        <a:bodyPr/>
        <a:lstStyle/>
        <a:p>
          <a:endParaRPr lang="en-US"/>
        </a:p>
      </dgm:t>
    </dgm:pt>
    <dgm:pt modelId="{C44128C1-22EC-48EE-B675-CB24308101CA}" type="pres">
      <dgm:prSet presAssocID="{DEA8934A-72C9-46F5-BF62-7CE17DB09AF9}" presName="root" presStyleCnt="0">
        <dgm:presLayoutVars>
          <dgm:dir/>
          <dgm:resizeHandles val="exact"/>
        </dgm:presLayoutVars>
      </dgm:prSet>
      <dgm:spPr/>
    </dgm:pt>
    <dgm:pt modelId="{6AC64F9B-960E-4BF2-9713-9D45B3D73AAF}" type="pres">
      <dgm:prSet presAssocID="{2F3121CE-778E-46E2-B123-AFD5CA5B3B7A}" presName="compNode" presStyleCnt="0"/>
      <dgm:spPr/>
    </dgm:pt>
    <dgm:pt modelId="{DE1C19A8-8078-4AB1-8D6E-3D914188BD8C}" type="pres">
      <dgm:prSet presAssocID="{2F3121CE-778E-46E2-B123-AFD5CA5B3B7A}" presName="iconBgRect" presStyleLbl="bgShp" presStyleIdx="0" presStyleCnt="3"/>
      <dgm:spPr/>
    </dgm:pt>
    <dgm:pt modelId="{6987ED95-C708-46A7-B9FC-D2C9C430576C}" type="pres">
      <dgm:prSet presAssocID="{2F3121CE-778E-46E2-B123-AFD5CA5B3B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
        </a:ext>
      </dgm:extLst>
    </dgm:pt>
    <dgm:pt modelId="{0DDE5D14-6A71-4092-860A-AA076ADD689B}" type="pres">
      <dgm:prSet presAssocID="{2F3121CE-778E-46E2-B123-AFD5CA5B3B7A}" presName="spaceRect" presStyleCnt="0"/>
      <dgm:spPr/>
    </dgm:pt>
    <dgm:pt modelId="{5062827A-C7D7-4B39-ADE8-4A03B67AC6C3}" type="pres">
      <dgm:prSet presAssocID="{2F3121CE-778E-46E2-B123-AFD5CA5B3B7A}" presName="textRect" presStyleLbl="revTx" presStyleIdx="0" presStyleCnt="3">
        <dgm:presLayoutVars>
          <dgm:chMax val="1"/>
          <dgm:chPref val="1"/>
        </dgm:presLayoutVars>
      </dgm:prSet>
      <dgm:spPr/>
    </dgm:pt>
    <dgm:pt modelId="{1AB0D922-6336-4AC7-89F0-4E84836E0516}" type="pres">
      <dgm:prSet presAssocID="{AEFB0002-40D4-4BA6-B5FF-DD9C588D9E1E}" presName="sibTrans" presStyleCnt="0"/>
      <dgm:spPr/>
    </dgm:pt>
    <dgm:pt modelId="{32AA9707-7260-4758-BC12-51A35092A9D8}" type="pres">
      <dgm:prSet presAssocID="{46E871C3-50CC-49B5-9FF7-E3746A175A54}" presName="compNode" presStyleCnt="0"/>
      <dgm:spPr/>
    </dgm:pt>
    <dgm:pt modelId="{5A580BE0-2B3E-4A9B-9F96-A8009806B8EE}" type="pres">
      <dgm:prSet presAssocID="{46E871C3-50CC-49B5-9FF7-E3746A175A54}" presName="iconBgRect" presStyleLbl="bgShp" presStyleIdx="1" presStyleCnt="3"/>
      <dgm:spPr/>
    </dgm:pt>
    <dgm:pt modelId="{6A804B62-161E-4C2F-958F-077F94EB057E}" type="pres">
      <dgm:prSet presAssocID="{46E871C3-50CC-49B5-9FF7-E3746A175A5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56306C97-BE00-4733-88C4-8CA1BD053F5C}" type="pres">
      <dgm:prSet presAssocID="{46E871C3-50CC-49B5-9FF7-E3746A175A54}" presName="spaceRect" presStyleCnt="0"/>
      <dgm:spPr/>
    </dgm:pt>
    <dgm:pt modelId="{E691E50F-353C-4EF3-9AA1-95C88C376465}" type="pres">
      <dgm:prSet presAssocID="{46E871C3-50CC-49B5-9FF7-E3746A175A54}" presName="textRect" presStyleLbl="revTx" presStyleIdx="1" presStyleCnt="3">
        <dgm:presLayoutVars>
          <dgm:chMax val="1"/>
          <dgm:chPref val="1"/>
        </dgm:presLayoutVars>
      </dgm:prSet>
      <dgm:spPr/>
    </dgm:pt>
    <dgm:pt modelId="{0EB736EC-E196-4B3D-8838-167D2DF91012}" type="pres">
      <dgm:prSet presAssocID="{47231DE6-8F11-470F-BFEF-8D096F83F108}" presName="sibTrans" presStyleCnt="0"/>
      <dgm:spPr/>
    </dgm:pt>
    <dgm:pt modelId="{FE1DFA77-843F-46AF-B508-48D19489133F}" type="pres">
      <dgm:prSet presAssocID="{5D42157C-CD73-439A-AE9D-D9C72DB5D27A}" presName="compNode" presStyleCnt="0"/>
      <dgm:spPr/>
    </dgm:pt>
    <dgm:pt modelId="{0B5F4DA6-6153-4BF8-BD04-252BEF6A2D3D}" type="pres">
      <dgm:prSet presAssocID="{5D42157C-CD73-439A-AE9D-D9C72DB5D27A}" presName="iconBgRect" presStyleLbl="bgShp" presStyleIdx="2" presStyleCnt="3"/>
      <dgm:spPr/>
    </dgm:pt>
    <dgm:pt modelId="{75A5D702-A6BF-4BA7-A7E6-A3DB6184D944}" type="pres">
      <dgm:prSet presAssocID="{5D42157C-CD73-439A-AE9D-D9C72DB5D27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D853BA23-306A-4F67-B31E-FDE2D864FC5D}" type="pres">
      <dgm:prSet presAssocID="{5D42157C-CD73-439A-AE9D-D9C72DB5D27A}" presName="spaceRect" presStyleCnt="0"/>
      <dgm:spPr/>
    </dgm:pt>
    <dgm:pt modelId="{CF734BC9-9F08-4927-8E5E-AE981E1D28F6}" type="pres">
      <dgm:prSet presAssocID="{5D42157C-CD73-439A-AE9D-D9C72DB5D27A}" presName="textRect" presStyleLbl="revTx" presStyleIdx="2" presStyleCnt="3">
        <dgm:presLayoutVars>
          <dgm:chMax val="1"/>
          <dgm:chPref val="1"/>
        </dgm:presLayoutVars>
      </dgm:prSet>
      <dgm:spPr/>
    </dgm:pt>
  </dgm:ptLst>
  <dgm:cxnLst>
    <dgm:cxn modelId="{7A686108-EB4F-4027-8868-895C2ED3E8DA}" srcId="{DEA8934A-72C9-46F5-BF62-7CE17DB09AF9}" destId="{46E871C3-50CC-49B5-9FF7-E3746A175A54}" srcOrd="1" destOrd="0" parTransId="{911109BA-6576-4773-A0CA-8A775B04A8BB}" sibTransId="{47231DE6-8F11-470F-BFEF-8D096F83F108}"/>
    <dgm:cxn modelId="{14D4640C-3CC5-47EC-BA17-8B58B477D87B}" type="presOf" srcId="{2F3121CE-778E-46E2-B123-AFD5CA5B3B7A}" destId="{5062827A-C7D7-4B39-ADE8-4A03B67AC6C3}" srcOrd="0" destOrd="0" presId="urn:microsoft.com/office/officeart/2018/5/layout/IconCircleLabelList"/>
    <dgm:cxn modelId="{CA912B23-E65B-4932-9DEB-0D10FD943179}" srcId="{DEA8934A-72C9-46F5-BF62-7CE17DB09AF9}" destId="{5D42157C-CD73-439A-AE9D-D9C72DB5D27A}" srcOrd="2" destOrd="0" parTransId="{1A458806-07B4-4617-8B1B-F2994FC35015}" sibTransId="{22FD9D4E-EA83-4FFA-BBB4-FD3C14A38A4A}"/>
    <dgm:cxn modelId="{18109C4E-99B6-4539-A4C7-41950A9E9EA6}" type="presOf" srcId="{5D42157C-CD73-439A-AE9D-D9C72DB5D27A}" destId="{CF734BC9-9F08-4927-8E5E-AE981E1D28F6}" srcOrd="0" destOrd="0" presId="urn:microsoft.com/office/officeart/2018/5/layout/IconCircleLabelList"/>
    <dgm:cxn modelId="{BABABB6C-FEF6-45C9-9603-4A54D3E34241}" type="presOf" srcId="{DEA8934A-72C9-46F5-BF62-7CE17DB09AF9}" destId="{C44128C1-22EC-48EE-B675-CB24308101CA}" srcOrd="0" destOrd="0" presId="urn:microsoft.com/office/officeart/2018/5/layout/IconCircleLabelList"/>
    <dgm:cxn modelId="{EA09F082-9FDC-4FC2-AAF2-3EB698BFC74E}" srcId="{DEA8934A-72C9-46F5-BF62-7CE17DB09AF9}" destId="{2F3121CE-778E-46E2-B123-AFD5CA5B3B7A}" srcOrd="0" destOrd="0" parTransId="{B26B5E44-73F1-42FC-B17A-6EB6AB33D0BF}" sibTransId="{AEFB0002-40D4-4BA6-B5FF-DD9C588D9E1E}"/>
    <dgm:cxn modelId="{1D570CA5-72D8-4554-ABC3-31A1D6078E58}" type="presOf" srcId="{46E871C3-50CC-49B5-9FF7-E3746A175A54}" destId="{E691E50F-353C-4EF3-9AA1-95C88C376465}" srcOrd="0" destOrd="0" presId="urn:microsoft.com/office/officeart/2018/5/layout/IconCircleLabelList"/>
    <dgm:cxn modelId="{A51A4F78-EC0D-4179-91B4-3653EA5C0E8C}" type="presParOf" srcId="{C44128C1-22EC-48EE-B675-CB24308101CA}" destId="{6AC64F9B-960E-4BF2-9713-9D45B3D73AAF}" srcOrd="0" destOrd="0" presId="urn:microsoft.com/office/officeart/2018/5/layout/IconCircleLabelList"/>
    <dgm:cxn modelId="{94FF30AD-E9C6-4178-BFE5-3C7426693412}" type="presParOf" srcId="{6AC64F9B-960E-4BF2-9713-9D45B3D73AAF}" destId="{DE1C19A8-8078-4AB1-8D6E-3D914188BD8C}" srcOrd="0" destOrd="0" presId="urn:microsoft.com/office/officeart/2018/5/layout/IconCircleLabelList"/>
    <dgm:cxn modelId="{5872313E-8497-4F6D-9F96-9C70E0C3DAB6}" type="presParOf" srcId="{6AC64F9B-960E-4BF2-9713-9D45B3D73AAF}" destId="{6987ED95-C708-46A7-B9FC-D2C9C430576C}" srcOrd="1" destOrd="0" presId="urn:microsoft.com/office/officeart/2018/5/layout/IconCircleLabelList"/>
    <dgm:cxn modelId="{870C847D-E840-4915-8D69-46680CC5F042}" type="presParOf" srcId="{6AC64F9B-960E-4BF2-9713-9D45B3D73AAF}" destId="{0DDE5D14-6A71-4092-860A-AA076ADD689B}" srcOrd="2" destOrd="0" presId="urn:microsoft.com/office/officeart/2018/5/layout/IconCircleLabelList"/>
    <dgm:cxn modelId="{D36EE609-5804-476B-8E8B-7FEA7C1E90E5}" type="presParOf" srcId="{6AC64F9B-960E-4BF2-9713-9D45B3D73AAF}" destId="{5062827A-C7D7-4B39-ADE8-4A03B67AC6C3}" srcOrd="3" destOrd="0" presId="urn:microsoft.com/office/officeart/2018/5/layout/IconCircleLabelList"/>
    <dgm:cxn modelId="{689ECF97-9285-44F6-97AE-C168CE9E4B4C}" type="presParOf" srcId="{C44128C1-22EC-48EE-B675-CB24308101CA}" destId="{1AB0D922-6336-4AC7-89F0-4E84836E0516}" srcOrd="1" destOrd="0" presId="urn:microsoft.com/office/officeart/2018/5/layout/IconCircleLabelList"/>
    <dgm:cxn modelId="{95FD26B9-33F2-4EAF-A43F-0D2D6C1DA41F}" type="presParOf" srcId="{C44128C1-22EC-48EE-B675-CB24308101CA}" destId="{32AA9707-7260-4758-BC12-51A35092A9D8}" srcOrd="2" destOrd="0" presId="urn:microsoft.com/office/officeart/2018/5/layout/IconCircleLabelList"/>
    <dgm:cxn modelId="{CD759410-57AB-44F8-A13C-52E5932FE24E}" type="presParOf" srcId="{32AA9707-7260-4758-BC12-51A35092A9D8}" destId="{5A580BE0-2B3E-4A9B-9F96-A8009806B8EE}" srcOrd="0" destOrd="0" presId="urn:microsoft.com/office/officeart/2018/5/layout/IconCircleLabelList"/>
    <dgm:cxn modelId="{11D25015-677B-4118-9241-187961601207}" type="presParOf" srcId="{32AA9707-7260-4758-BC12-51A35092A9D8}" destId="{6A804B62-161E-4C2F-958F-077F94EB057E}" srcOrd="1" destOrd="0" presId="urn:microsoft.com/office/officeart/2018/5/layout/IconCircleLabelList"/>
    <dgm:cxn modelId="{F8FF6830-3918-441C-9B2B-8ED0F8969CD9}" type="presParOf" srcId="{32AA9707-7260-4758-BC12-51A35092A9D8}" destId="{56306C97-BE00-4733-88C4-8CA1BD053F5C}" srcOrd="2" destOrd="0" presId="urn:microsoft.com/office/officeart/2018/5/layout/IconCircleLabelList"/>
    <dgm:cxn modelId="{B67A3F1B-1043-4436-8998-6E8DE69C3B20}" type="presParOf" srcId="{32AA9707-7260-4758-BC12-51A35092A9D8}" destId="{E691E50F-353C-4EF3-9AA1-95C88C376465}" srcOrd="3" destOrd="0" presId="urn:microsoft.com/office/officeart/2018/5/layout/IconCircleLabelList"/>
    <dgm:cxn modelId="{7219607C-B3B8-41E7-9214-1CE56305F84B}" type="presParOf" srcId="{C44128C1-22EC-48EE-B675-CB24308101CA}" destId="{0EB736EC-E196-4B3D-8838-167D2DF91012}" srcOrd="3" destOrd="0" presId="urn:microsoft.com/office/officeart/2018/5/layout/IconCircleLabelList"/>
    <dgm:cxn modelId="{5186C85C-8B17-4DDB-8907-8D899068D6CA}" type="presParOf" srcId="{C44128C1-22EC-48EE-B675-CB24308101CA}" destId="{FE1DFA77-843F-46AF-B508-48D19489133F}" srcOrd="4" destOrd="0" presId="urn:microsoft.com/office/officeart/2018/5/layout/IconCircleLabelList"/>
    <dgm:cxn modelId="{96F45555-56D8-42EB-A635-0B765ADE766B}" type="presParOf" srcId="{FE1DFA77-843F-46AF-B508-48D19489133F}" destId="{0B5F4DA6-6153-4BF8-BD04-252BEF6A2D3D}" srcOrd="0" destOrd="0" presId="urn:microsoft.com/office/officeart/2018/5/layout/IconCircleLabelList"/>
    <dgm:cxn modelId="{23E8AAD6-0EF3-40A7-9310-748A4437102B}" type="presParOf" srcId="{FE1DFA77-843F-46AF-B508-48D19489133F}" destId="{75A5D702-A6BF-4BA7-A7E6-A3DB6184D944}" srcOrd="1" destOrd="0" presId="urn:microsoft.com/office/officeart/2018/5/layout/IconCircleLabelList"/>
    <dgm:cxn modelId="{449B29B9-BA9E-48FD-9069-F713FE78810A}" type="presParOf" srcId="{FE1DFA77-843F-46AF-B508-48D19489133F}" destId="{D853BA23-306A-4F67-B31E-FDE2D864FC5D}" srcOrd="2" destOrd="0" presId="urn:microsoft.com/office/officeart/2018/5/layout/IconCircleLabelList"/>
    <dgm:cxn modelId="{42335213-2AC9-43AE-A186-A1833AAE2348}" type="presParOf" srcId="{FE1DFA77-843F-46AF-B508-48D19489133F}" destId="{CF734BC9-9F08-4927-8E5E-AE981E1D28F6}"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F74B8C-7920-4AC5-899E-472DCEB1C3C7}" type="doc">
      <dgm:prSet loTypeId="urn:microsoft.com/office/officeart/2005/8/layout/hierarchy3" loCatId="hierarchy" qsTypeId="urn:microsoft.com/office/officeart/2005/8/quickstyle/simple1" qsCatId="simple" csTypeId="urn:microsoft.com/office/officeart/2005/8/colors/colorful2" csCatId="colorful"/>
      <dgm:spPr/>
      <dgm:t>
        <a:bodyPr/>
        <a:lstStyle/>
        <a:p>
          <a:endParaRPr lang="en-US"/>
        </a:p>
      </dgm:t>
    </dgm:pt>
    <dgm:pt modelId="{152F3628-2789-4A93-B2E2-CA47B81D78D2}">
      <dgm:prSet/>
      <dgm:spPr/>
      <dgm:t>
        <a:bodyPr/>
        <a:lstStyle/>
        <a:p>
          <a:r>
            <a:rPr lang="en-US"/>
            <a:t>Hypothesis supported</a:t>
          </a:r>
        </a:p>
      </dgm:t>
    </dgm:pt>
    <dgm:pt modelId="{D9F84D63-B5F6-44B8-8B07-34E3BA4B59C9}" type="parTrans" cxnId="{11E9CA9D-CE86-4F60-9C9B-EE14370E898A}">
      <dgm:prSet/>
      <dgm:spPr/>
      <dgm:t>
        <a:bodyPr/>
        <a:lstStyle/>
        <a:p>
          <a:endParaRPr lang="en-US"/>
        </a:p>
      </dgm:t>
    </dgm:pt>
    <dgm:pt modelId="{06A8F04A-F7E5-4C1F-854B-4F8ABCAA3034}" type="sibTrans" cxnId="{11E9CA9D-CE86-4F60-9C9B-EE14370E898A}">
      <dgm:prSet/>
      <dgm:spPr/>
      <dgm:t>
        <a:bodyPr/>
        <a:lstStyle/>
        <a:p>
          <a:endParaRPr lang="en-US"/>
        </a:p>
      </dgm:t>
    </dgm:pt>
    <dgm:pt modelId="{7CEC4EB5-B515-4CA0-9530-25183199BD2D}">
      <dgm:prSet/>
      <dgm:spPr/>
      <dgm:t>
        <a:bodyPr/>
        <a:lstStyle/>
        <a:p>
          <a:r>
            <a:rPr lang="en-US"/>
            <a:t>Testing slows case growth</a:t>
          </a:r>
        </a:p>
      </dgm:t>
    </dgm:pt>
    <dgm:pt modelId="{597D0B06-AA7D-41EE-A6BA-80876275AF77}" type="parTrans" cxnId="{0B978322-ADEF-4343-8B47-63E20CDF18BE}">
      <dgm:prSet/>
      <dgm:spPr/>
      <dgm:t>
        <a:bodyPr/>
        <a:lstStyle/>
        <a:p>
          <a:endParaRPr lang="en-US"/>
        </a:p>
      </dgm:t>
    </dgm:pt>
    <dgm:pt modelId="{E97C5CD0-5F73-46BA-89F6-CCB444D73918}" type="sibTrans" cxnId="{0B978322-ADEF-4343-8B47-63E20CDF18BE}">
      <dgm:prSet/>
      <dgm:spPr/>
      <dgm:t>
        <a:bodyPr/>
        <a:lstStyle/>
        <a:p>
          <a:endParaRPr lang="en-US"/>
        </a:p>
      </dgm:t>
    </dgm:pt>
    <dgm:pt modelId="{3BF9EB18-7060-46E1-A23E-CD3712D65010}">
      <dgm:prSet/>
      <dgm:spPr/>
      <dgm:t>
        <a:bodyPr/>
        <a:lstStyle/>
        <a:p>
          <a:r>
            <a:rPr lang="en-US"/>
            <a:t>Timing matters (7–14 days)</a:t>
          </a:r>
        </a:p>
      </dgm:t>
    </dgm:pt>
    <dgm:pt modelId="{37A15785-A979-4BF5-885A-9BEB7275D783}" type="parTrans" cxnId="{C879ED11-E3E1-4A40-B54C-4C73077536EE}">
      <dgm:prSet/>
      <dgm:spPr/>
      <dgm:t>
        <a:bodyPr/>
        <a:lstStyle/>
        <a:p>
          <a:endParaRPr lang="en-US"/>
        </a:p>
      </dgm:t>
    </dgm:pt>
    <dgm:pt modelId="{418BCF22-7E65-4D75-9A4D-1336D6E260C4}" type="sibTrans" cxnId="{C879ED11-E3E1-4A40-B54C-4C73077536EE}">
      <dgm:prSet/>
      <dgm:spPr/>
      <dgm:t>
        <a:bodyPr/>
        <a:lstStyle/>
        <a:p>
          <a:endParaRPr lang="en-US"/>
        </a:p>
      </dgm:t>
    </dgm:pt>
    <dgm:pt modelId="{57440FD5-5180-EB41-AFDE-68363F8D010D}" type="pres">
      <dgm:prSet presAssocID="{DAF74B8C-7920-4AC5-899E-472DCEB1C3C7}" presName="diagram" presStyleCnt="0">
        <dgm:presLayoutVars>
          <dgm:chPref val="1"/>
          <dgm:dir/>
          <dgm:animOne val="branch"/>
          <dgm:animLvl val="lvl"/>
          <dgm:resizeHandles/>
        </dgm:presLayoutVars>
      </dgm:prSet>
      <dgm:spPr/>
    </dgm:pt>
    <dgm:pt modelId="{3E10495F-56C6-074E-97F5-24413A26D9FB}" type="pres">
      <dgm:prSet presAssocID="{152F3628-2789-4A93-B2E2-CA47B81D78D2}" presName="root" presStyleCnt="0"/>
      <dgm:spPr/>
    </dgm:pt>
    <dgm:pt modelId="{DD30A411-4265-BB48-853D-B2DE9E71EB66}" type="pres">
      <dgm:prSet presAssocID="{152F3628-2789-4A93-B2E2-CA47B81D78D2}" presName="rootComposite" presStyleCnt="0"/>
      <dgm:spPr/>
    </dgm:pt>
    <dgm:pt modelId="{3E4B3F56-85B6-F048-BD22-0288F67091D5}" type="pres">
      <dgm:prSet presAssocID="{152F3628-2789-4A93-B2E2-CA47B81D78D2}" presName="rootText" presStyleLbl="node1" presStyleIdx="0" presStyleCnt="3"/>
      <dgm:spPr/>
    </dgm:pt>
    <dgm:pt modelId="{EDD30189-71E5-8848-A63C-EEA2E92462D0}" type="pres">
      <dgm:prSet presAssocID="{152F3628-2789-4A93-B2E2-CA47B81D78D2}" presName="rootConnector" presStyleLbl="node1" presStyleIdx="0" presStyleCnt="3"/>
      <dgm:spPr/>
    </dgm:pt>
    <dgm:pt modelId="{96440021-9773-B049-8671-3C66E3D77400}" type="pres">
      <dgm:prSet presAssocID="{152F3628-2789-4A93-B2E2-CA47B81D78D2}" presName="childShape" presStyleCnt="0"/>
      <dgm:spPr/>
    </dgm:pt>
    <dgm:pt modelId="{12D22C8C-EC77-0848-80C8-1059A93DE067}" type="pres">
      <dgm:prSet presAssocID="{7CEC4EB5-B515-4CA0-9530-25183199BD2D}" presName="root" presStyleCnt="0"/>
      <dgm:spPr/>
    </dgm:pt>
    <dgm:pt modelId="{79D74673-947A-924E-84B0-747030F883D5}" type="pres">
      <dgm:prSet presAssocID="{7CEC4EB5-B515-4CA0-9530-25183199BD2D}" presName="rootComposite" presStyleCnt="0"/>
      <dgm:spPr/>
    </dgm:pt>
    <dgm:pt modelId="{A8425B9D-E750-2A4E-9AF8-69A7601537C2}" type="pres">
      <dgm:prSet presAssocID="{7CEC4EB5-B515-4CA0-9530-25183199BD2D}" presName="rootText" presStyleLbl="node1" presStyleIdx="1" presStyleCnt="3"/>
      <dgm:spPr/>
    </dgm:pt>
    <dgm:pt modelId="{1E139315-FB9E-4F49-8925-BED55345EFF4}" type="pres">
      <dgm:prSet presAssocID="{7CEC4EB5-B515-4CA0-9530-25183199BD2D}" presName="rootConnector" presStyleLbl="node1" presStyleIdx="1" presStyleCnt="3"/>
      <dgm:spPr/>
    </dgm:pt>
    <dgm:pt modelId="{8078F10A-ACF1-834A-987D-2B85367D6B8D}" type="pres">
      <dgm:prSet presAssocID="{7CEC4EB5-B515-4CA0-9530-25183199BD2D}" presName="childShape" presStyleCnt="0"/>
      <dgm:spPr/>
    </dgm:pt>
    <dgm:pt modelId="{58F5863A-62DD-7743-9A3B-23B7078B231C}" type="pres">
      <dgm:prSet presAssocID="{3BF9EB18-7060-46E1-A23E-CD3712D65010}" presName="root" presStyleCnt="0"/>
      <dgm:spPr/>
    </dgm:pt>
    <dgm:pt modelId="{294CBE54-5F0E-554E-86D9-E5431451F0CA}" type="pres">
      <dgm:prSet presAssocID="{3BF9EB18-7060-46E1-A23E-CD3712D65010}" presName="rootComposite" presStyleCnt="0"/>
      <dgm:spPr/>
    </dgm:pt>
    <dgm:pt modelId="{D81EFF0B-F139-A945-B4C3-2C753485C54F}" type="pres">
      <dgm:prSet presAssocID="{3BF9EB18-7060-46E1-A23E-CD3712D65010}" presName="rootText" presStyleLbl="node1" presStyleIdx="2" presStyleCnt="3"/>
      <dgm:spPr/>
    </dgm:pt>
    <dgm:pt modelId="{166C6DE2-7169-B640-85B3-DFE265657DA6}" type="pres">
      <dgm:prSet presAssocID="{3BF9EB18-7060-46E1-A23E-CD3712D65010}" presName="rootConnector" presStyleLbl="node1" presStyleIdx="2" presStyleCnt="3"/>
      <dgm:spPr/>
    </dgm:pt>
    <dgm:pt modelId="{89476B4A-5A92-EC47-B8EB-20CD757DA297}" type="pres">
      <dgm:prSet presAssocID="{3BF9EB18-7060-46E1-A23E-CD3712D65010}" presName="childShape" presStyleCnt="0"/>
      <dgm:spPr/>
    </dgm:pt>
  </dgm:ptLst>
  <dgm:cxnLst>
    <dgm:cxn modelId="{C879ED11-E3E1-4A40-B54C-4C73077536EE}" srcId="{DAF74B8C-7920-4AC5-899E-472DCEB1C3C7}" destId="{3BF9EB18-7060-46E1-A23E-CD3712D65010}" srcOrd="2" destOrd="0" parTransId="{37A15785-A979-4BF5-885A-9BEB7275D783}" sibTransId="{418BCF22-7E65-4D75-9A4D-1336D6E260C4}"/>
    <dgm:cxn modelId="{0B978322-ADEF-4343-8B47-63E20CDF18BE}" srcId="{DAF74B8C-7920-4AC5-899E-472DCEB1C3C7}" destId="{7CEC4EB5-B515-4CA0-9530-25183199BD2D}" srcOrd="1" destOrd="0" parTransId="{597D0B06-AA7D-41EE-A6BA-80876275AF77}" sibTransId="{E97C5CD0-5F73-46BA-89F6-CCB444D73918}"/>
    <dgm:cxn modelId="{0A949351-0C75-1040-9650-F0E4EBFDC421}" type="presOf" srcId="{3BF9EB18-7060-46E1-A23E-CD3712D65010}" destId="{166C6DE2-7169-B640-85B3-DFE265657DA6}" srcOrd="1" destOrd="0" presId="urn:microsoft.com/office/officeart/2005/8/layout/hierarchy3"/>
    <dgm:cxn modelId="{34F4CD5F-B3AC-CA4E-BD85-413958340F7A}" type="presOf" srcId="{3BF9EB18-7060-46E1-A23E-CD3712D65010}" destId="{D81EFF0B-F139-A945-B4C3-2C753485C54F}" srcOrd="0" destOrd="0" presId="urn:microsoft.com/office/officeart/2005/8/layout/hierarchy3"/>
    <dgm:cxn modelId="{11E9CA9D-CE86-4F60-9C9B-EE14370E898A}" srcId="{DAF74B8C-7920-4AC5-899E-472DCEB1C3C7}" destId="{152F3628-2789-4A93-B2E2-CA47B81D78D2}" srcOrd="0" destOrd="0" parTransId="{D9F84D63-B5F6-44B8-8B07-34E3BA4B59C9}" sibTransId="{06A8F04A-F7E5-4C1F-854B-4F8ABCAA3034}"/>
    <dgm:cxn modelId="{855E05A1-40AF-224A-9077-2A2C2E400676}" type="presOf" srcId="{DAF74B8C-7920-4AC5-899E-472DCEB1C3C7}" destId="{57440FD5-5180-EB41-AFDE-68363F8D010D}" srcOrd="0" destOrd="0" presId="urn:microsoft.com/office/officeart/2005/8/layout/hierarchy3"/>
    <dgm:cxn modelId="{64CD26C1-9AD3-C941-94DA-85BCB9B0CEFE}" type="presOf" srcId="{7CEC4EB5-B515-4CA0-9530-25183199BD2D}" destId="{A8425B9D-E750-2A4E-9AF8-69A7601537C2}" srcOrd="0" destOrd="0" presId="urn:microsoft.com/office/officeart/2005/8/layout/hierarchy3"/>
    <dgm:cxn modelId="{38AD30C4-7D86-3747-B311-B7763504FEB0}" type="presOf" srcId="{7CEC4EB5-B515-4CA0-9530-25183199BD2D}" destId="{1E139315-FB9E-4F49-8925-BED55345EFF4}" srcOrd="1" destOrd="0" presId="urn:microsoft.com/office/officeart/2005/8/layout/hierarchy3"/>
    <dgm:cxn modelId="{75F3D1E1-145B-5748-AABD-985AD905B0D0}" type="presOf" srcId="{152F3628-2789-4A93-B2E2-CA47B81D78D2}" destId="{3E4B3F56-85B6-F048-BD22-0288F67091D5}" srcOrd="0" destOrd="0" presId="urn:microsoft.com/office/officeart/2005/8/layout/hierarchy3"/>
    <dgm:cxn modelId="{0116F8EA-649A-8040-A57C-6A2199457FF4}" type="presOf" srcId="{152F3628-2789-4A93-B2E2-CA47B81D78D2}" destId="{EDD30189-71E5-8848-A63C-EEA2E92462D0}" srcOrd="1" destOrd="0" presId="urn:microsoft.com/office/officeart/2005/8/layout/hierarchy3"/>
    <dgm:cxn modelId="{9737DE7D-5AF4-AD49-9549-CD8012702B09}" type="presParOf" srcId="{57440FD5-5180-EB41-AFDE-68363F8D010D}" destId="{3E10495F-56C6-074E-97F5-24413A26D9FB}" srcOrd="0" destOrd="0" presId="urn:microsoft.com/office/officeart/2005/8/layout/hierarchy3"/>
    <dgm:cxn modelId="{69C979C3-0D8A-2E45-A869-87851F0399B5}" type="presParOf" srcId="{3E10495F-56C6-074E-97F5-24413A26D9FB}" destId="{DD30A411-4265-BB48-853D-B2DE9E71EB66}" srcOrd="0" destOrd="0" presId="urn:microsoft.com/office/officeart/2005/8/layout/hierarchy3"/>
    <dgm:cxn modelId="{7752E27F-587F-354D-8208-B9F7310A8AB7}" type="presParOf" srcId="{DD30A411-4265-BB48-853D-B2DE9E71EB66}" destId="{3E4B3F56-85B6-F048-BD22-0288F67091D5}" srcOrd="0" destOrd="0" presId="urn:microsoft.com/office/officeart/2005/8/layout/hierarchy3"/>
    <dgm:cxn modelId="{D3BDE119-10FA-EA49-9F7C-3F7CAC52D8E5}" type="presParOf" srcId="{DD30A411-4265-BB48-853D-B2DE9E71EB66}" destId="{EDD30189-71E5-8848-A63C-EEA2E92462D0}" srcOrd="1" destOrd="0" presId="urn:microsoft.com/office/officeart/2005/8/layout/hierarchy3"/>
    <dgm:cxn modelId="{704DB2E9-5969-CB45-B4D4-196EBE392B49}" type="presParOf" srcId="{3E10495F-56C6-074E-97F5-24413A26D9FB}" destId="{96440021-9773-B049-8671-3C66E3D77400}" srcOrd="1" destOrd="0" presId="urn:microsoft.com/office/officeart/2005/8/layout/hierarchy3"/>
    <dgm:cxn modelId="{FAEA4E1B-2F7B-B942-9C67-8783C1CE0F9D}" type="presParOf" srcId="{57440FD5-5180-EB41-AFDE-68363F8D010D}" destId="{12D22C8C-EC77-0848-80C8-1059A93DE067}" srcOrd="1" destOrd="0" presId="urn:microsoft.com/office/officeart/2005/8/layout/hierarchy3"/>
    <dgm:cxn modelId="{8CE91FB3-FA15-2343-B2CD-9E098AFE6ED1}" type="presParOf" srcId="{12D22C8C-EC77-0848-80C8-1059A93DE067}" destId="{79D74673-947A-924E-84B0-747030F883D5}" srcOrd="0" destOrd="0" presId="urn:microsoft.com/office/officeart/2005/8/layout/hierarchy3"/>
    <dgm:cxn modelId="{8FF50D44-CB01-834E-B38E-6BCBE5A44442}" type="presParOf" srcId="{79D74673-947A-924E-84B0-747030F883D5}" destId="{A8425B9D-E750-2A4E-9AF8-69A7601537C2}" srcOrd="0" destOrd="0" presId="urn:microsoft.com/office/officeart/2005/8/layout/hierarchy3"/>
    <dgm:cxn modelId="{1097E27A-9763-704D-80A9-480BF8E7C62E}" type="presParOf" srcId="{79D74673-947A-924E-84B0-747030F883D5}" destId="{1E139315-FB9E-4F49-8925-BED55345EFF4}" srcOrd="1" destOrd="0" presId="urn:microsoft.com/office/officeart/2005/8/layout/hierarchy3"/>
    <dgm:cxn modelId="{62F2B4FD-3779-D642-98B6-CCBBDA063DCD}" type="presParOf" srcId="{12D22C8C-EC77-0848-80C8-1059A93DE067}" destId="{8078F10A-ACF1-834A-987D-2B85367D6B8D}" srcOrd="1" destOrd="0" presId="urn:microsoft.com/office/officeart/2005/8/layout/hierarchy3"/>
    <dgm:cxn modelId="{4B1D28C7-596A-234F-885F-3B6EE0EFD8A8}" type="presParOf" srcId="{57440FD5-5180-EB41-AFDE-68363F8D010D}" destId="{58F5863A-62DD-7743-9A3B-23B7078B231C}" srcOrd="2" destOrd="0" presId="urn:microsoft.com/office/officeart/2005/8/layout/hierarchy3"/>
    <dgm:cxn modelId="{429C97AA-0407-D447-A730-2E3FE9A8BD31}" type="presParOf" srcId="{58F5863A-62DD-7743-9A3B-23B7078B231C}" destId="{294CBE54-5F0E-554E-86D9-E5431451F0CA}" srcOrd="0" destOrd="0" presId="urn:microsoft.com/office/officeart/2005/8/layout/hierarchy3"/>
    <dgm:cxn modelId="{65BBC320-E931-8244-9A70-BCDDBE116C8B}" type="presParOf" srcId="{294CBE54-5F0E-554E-86D9-E5431451F0CA}" destId="{D81EFF0B-F139-A945-B4C3-2C753485C54F}" srcOrd="0" destOrd="0" presId="urn:microsoft.com/office/officeart/2005/8/layout/hierarchy3"/>
    <dgm:cxn modelId="{B8F10822-8454-D24B-A44E-91EF53A443FD}" type="presParOf" srcId="{294CBE54-5F0E-554E-86D9-E5431451F0CA}" destId="{166C6DE2-7169-B640-85B3-DFE265657DA6}" srcOrd="1" destOrd="0" presId="urn:microsoft.com/office/officeart/2005/8/layout/hierarchy3"/>
    <dgm:cxn modelId="{49A8F074-D62A-6348-9873-6FF648ABBDDD}" type="presParOf" srcId="{58F5863A-62DD-7743-9A3B-23B7078B231C}" destId="{89476B4A-5A92-EC47-B8EB-20CD757DA297}" srcOrd="1"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664FE7-CE21-4A3D-A865-59B42C768EA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737B4A12-CE7F-4F3B-9071-CDC887AA3658}">
      <dgm:prSet/>
      <dgm:spPr/>
      <dgm:t>
        <a:bodyPr/>
        <a:lstStyle/>
        <a:p>
          <a:r>
            <a:rPr lang="en-US"/>
            <a:t>Add more health-system variables</a:t>
          </a:r>
        </a:p>
      </dgm:t>
    </dgm:pt>
    <dgm:pt modelId="{72E2DE35-C067-450E-BFAC-67329E464DB6}" type="parTrans" cxnId="{567BCF82-E376-4912-897C-C50047F290CA}">
      <dgm:prSet/>
      <dgm:spPr/>
      <dgm:t>
        <a:bodyPr/>
        <a:lstStyle/>
        <a:p>
          <a:endParaRPr lang="en-US"/>
        </a:p>
      </dgm:t>
    </dgm:pt>
    <dgm:pt modelId="{13497034-CDD5-4F6A-9CC2-9D938744AFE1}" type="sibTrans" cxnId="{567BCF82-E376-4912-897C-C50047F290CA}">
      <dgm:prSet/>
      <dgm:spPr/>
      <dgm:t>
        <a:bodyPr/>
        <a:lstStyle/>
        <a:p>
          <a:endParaRPr lang="en-US"/>
        </a:p>
      </dgm:t>
    </dgm:pt>
    <dgm:pt modelId="{6058DB15-E4B0-4402-8C6C-2FCD8038F10E}">
      <dgm:prSet/>
      <dgm:spPr/>
      <dgm:t>
        <a:bodyPr/>
        <a:lstStyle/>
        <a:p>
          <a:r>
            <a:rPr lang="en-US"/>
            <a:t>Use advanced causal inference</a:t>
          </a:r>
        </a:p>
      </dgm:t>
    </dgm:pt>
    <dgm:pt modelId="{08E07E62-1537-4174-BC50-7B9EBF970721}" type="parTrans" cxnId="{C7EFB8C9-0B52-45E2-AA38-20C5379112BA}">
      <dgm:prSet/>
      <dgm:spPr/>
      <dgm:t>
        <a:bodyPr/>
        <a:lstStyle/>
        <a:p>
          <a:endParaRPr lang="en-US"/>
        </a:p>
      </dgm:t>
    </dgm:pt>
    <dgm:pt modelId="{60ECBAC3-707E-4648-B772-721D4804DA8F}" type="sibTrans" cxnId="{C7EFB8C9-0B52-45E2-AA38-20C5379112BA}">
      <dgm:prSet/>
      <dgm:spPr/>
      <dgm:t>
        <a:bodyPr/>
        <a:lstStyle/>
        <a:p>
          <a:endParaRPr lang="en-US"/>
        </a:p>
      </dgm:t>
    </dgm:pt>
    <dgm:pt modelId="{E9E1FBE2-4D48-478F-9DDE-7C9898C32FBE}">
      <dgm:prSet/>
      <dgm:spPr/>
      <dgm:t>
        <a:bodyPr/>
        <a:lstStyle/>
        <a:p>
          <a:r>
            <a:rPr lang="en-US"/>
            <a:t>Integrate real-time dashboards</a:t>
          </a:r>
        </a:p>
      </dgm:t>
    </dgm:pt>
    <dgm:pt modelId="{D337C530-0365-48C5-BCF0-E620D7AC87D8}" type="parTrans" cxnId="{AA1A1870-C6E7-4640-8C98-0971A0283849}">
      <dgm:prSet/>
      <dgm:spPr/>
      <dgm:t>
        <a:bodyPr/>
        <a:lstStyle/>
        <a:p>
          <a:endParaRPr lang="en-US"/>
        </a:p>
      </dgm:t>
    </dgm:pt>
    <dgm:pt modelId="{67E30137-0C5C-43FC-8707-949264677E60}" type="sibTrans" cxnId="{AA1A1870-C6E7-4640-8C98-0971A0283849}">
      <dgm:prSet/>
      <dgm:spPr/>
      <dgm:t>
        <a:bodyPr/>
        <a:lstStyle/>
        <a:p>
          <a:endParaRPr lang="en-US"/>
        </a:p>
      </dgm:t>
    </dgm:pt>
    <dgm:pt modelId="{E6E4A8FF-63E9-4940-A180-F024A24CDA5B}" type="pres">
      <dgm:prSet presAssocID="{03664FE7-CE21-4A3D-A865-59B42C768EA0}" presName="root" presStyleCnt="0">
        <dgm:presLayoutVars>
          <dgm:dir/>
          <dgm:resizeHandles val="exact"/>
        </dgm:presLayoutVars>
      </dgm:prSet>
      <dgm:spPr/>
    </dgm:pt>
    <dgm:pt modelId="{959240A0-352E-4E60-AD0B-B6298A5ECA74}" type="pres">
      <dgm:prSet presAssocID="{737B4A12-CE7F-4F3B-9071-CDC887AA3658}" presName="compNode" presStyleCnt="0"/>
      <dgm:spPr/>
    </dgm:pt>
    <dgm:pt modelId="{D582B1C7-4C1F-4634-A3AA-736F3F194CAB}" type="pres">
      <dgm:prSet presAssocID="{737B4A12-CE7F-4F3B-9071-CDC887AA36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EE8FB7E3-D20F-449B-B614-6D1A4B7EF1E0}" type="pres">
      <dgm:prSet presAssocID="{737B4A12-CE7F-4F3B-9071-CDC887AA3658}" presName="spaceRect" presStyleCnt="0"/>
      <dgm:spPr/>
    </dgm:pt>
    <dgm:pt modelId="{42E4D494-34EA-4681-A238-6B28411ECD26}" type="pres">
      <dgm:prSet presAssocID="{737B4A12-CE7F-4F3B-9071-CDC887AA3658}" presName="textRect" presStyleLbl="revTx" presStyleIdx="0" presStyleCnt="3">
        <dgm:presLayoutVars>
          <dgm:chMax val="1"/>
          <dgm:chPref val="1"/>
        </dgm:presLayoutVars>
      </dgm:prSet>
      <dgm:spPr/>
    </dgm:pt>
    <dgm:pt modelId="{15A2994E-5681-4A71-B308-CEB284571ED7}" type="pres">
      <dgm:prSet presAssocID="{13497034-CDD5-4F6A-9CC2-9D938744AFE1}" presName="sibTrans" presStyleCnt="0"/>
      <dgm:spPr/>
    </dgm:pt>
    <dgm:pt modelId="{048DED17-2B5F-4473-B512-D42F0CF94248}" type="pres">
      <dgm:prSet presAssocID="{6058DB15-E4B0-4402-8C6C-2FCD8038F10E}" presName="compNode" presStyleCnt="0"/>
      <dgm:spPr/>
    </dgm:pt>
    <dgm:pt modelId="{43793E5E-883C-400C-B8BA-18FC37D08E7A}" type="pres">
      <dgm:prSet presAssocID="{6058DB15-E4B0-4402-8C6C-2FCD8038F10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F3E84138-CB20-4842-9FA9-FD1D150C881C}" type="pres">
      <dgm:prSet presAssocID="{6058DB15-E4B0-4402-8C6C-2FCD8038F10E}" presName="spaceRect" presStyleCnt="0"/>
      <dgm:spPr/>
    </dgm:pt>
    <dgm:pt modelId="{B9667C2C-490D-47BF-8E0D-13ABA0521DF0}" type="pres">
      <dgm:prSet presAssocID="{6058DB15-E4B0-4402-8C6C-2FCD8038F10E}" presName="textRect" presStyleLbl="revTx" presStyleIdx="1" presStyleCnt="3">
        <dgm:presLayoutVars>
          <dgm:chMax val="1"/>
          <dgm:chPref val="1"/>
        </dgm:presLayoutVars>
      </dgm:prSet>
      <dgm:spPr/>
    </dgm:pt>
    <dgm:pt modelId="{AF76E727-A989-49CD-850B-19E2425443DA}" type="pres">
      <dgm:prSet presAssocID="{60ECBAC3-707E-4648-B772-721D4804DA8F}" presName="sibTrans" presStyleCnt="0"/>
      <dgm:spPr/>
    </dgm:pt>
    <dgm:pt modelId="{ABEC3140-59FF-41A2-BB2C-E345328378D3}" type="pres">
      <dgm:prSet presAssocID="{E9E1FBE2-4D48-478F-9DDE-7C9898C32FBE}" presName="compNode" presStyleCnt="0"/>
      <dgm:spPr/>
    </dgm:pt>
    <dgm:pt modelId="{5FE9D2F2-C38C-468F-A068-844D35A10A6A}" type="pres">
      <dgm:prSet presAssocID="{E9E1FBE2-4D48-478F-9DDE-7C9898C32F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462E91A3-6221-491D-9CC0-4F0868DD4B31}" type="pres">
      <dgm:prSet presAssocID="{E9E1FBE2-4D48-478F-9DDE-7C9898C32FBE}" presName="spaceRect" presStyleCnt="0"/>
      <dgm:spPr/>
    </dgm:pt>
    <dgm:pt modelId="{70DE90FA-3627-471B-BE0A-D0191ACD69F0}" type="pres">
      <dgm:prSet presAssocID="{E9E1FBE2-4D48-478F-9DDE-7C9898C32FBE}" presName="textRect" presStyleLbl="revTx" presStyleIdx="2" presStyleCnt="3">
        <dgm:presLayoutVars>
          <dgm:chMax val="1"/>
          <dgm:chPref val="1"/>
        </dgm:presLayoutVars>
      </dgm:prSet>
      <dgm:spPr/>
    </dgm:pt>
  </dgm:ptLst>
  <dgm:cxnLst>
    <dgm:cxn modelId="{5FBF2F1A-0A56-4B85-80DA-9852C27FBE45}" type="presOf" srcId="{03664FE7-CE21-4A3D-A865-59B42C768EA0}" destId="{E6E4A8FF-63E9-4940-A180-F024A24CDA5B}" srcOrd="0" destOrd="0" presId="urn:microsoft.com/office/officeart/2018/2/layout/IconLabelList"/>
    <dgm:cxn modelId="{E6AE4567-07DC-4DFB-9A9B-A922660A0975}" type="presOf" srcId="{737B4A12-CE7F-4F3B-9071-CDC887AA3658}" destId="{42E4D494-34EA-4681-A238-6B28411ECD26}" srcOrd="0" destOrd="0" presId="urn:microsoft.com/office/officeart/2018/2/layout/IconLabelList"/>
    <dgm:cxn modelId="{AA1A1870-C6E7-4640-8C98-0971A0283849}" srcId="{03664FE7-CE21-4A3D-A865-59B42C768EA0}" destId="{E9E1FBE2-4D48-478F-9DDE-7C9898C32FBE}" srcOrd="2" destOrd="0" parTransId="{D337C530-0365-48C5-BCF0-E620D7AC87D8}" sibTransId="{67E30137-0C5C-43FC-8707-949264677E60}"/>
    <dgm:cxn modelId="{567BCF82-E376-4912-897C-C50047F290CA}" srcId="{03664FE7-CE21-4A3D-A865-59B42C768EA0}" destId="{737B4A12-CE7F-4F3B-9071-CDC887AA3658}" srcOrd="0" destOrd="0" parTransId="{72E2DE35-C067-450E-BFAC-67329E464DB6}" sibTransId="{13497034-CDD5-4F6A-9CC2-9D938744AFE1}"/>
    <dgm:cxn modelId="{D2FCBAA0-231E-487F-B6B8-8CDBAD166181}" type="presOf" srcId="{6058DB15-E4B0-4402-8C6C-2FCD8038F10E}" destId="{B9667C2C-490D-47BF-8E0D-13ABA0521DF0}" srcOrd="0" destOrd="0" presId="urn:microsoft.com/office/officeart/2018/2/layout/IconLabelList"/>
    <dgm:cxn modelId="{C7EFB8C9-0B52-45E2-AA38-20C5379112BA}" srcId="{03664FE7-CE21-4A3D-A865-59B42C768EA0}" destId="{6058DB15-E4B0-4402-8C6C-2FCD8038F10E}" srcOrd="1" destOrd="0" parTransId="{08E07E62-1537-4174-BC50-7B9EBF970721}" sibTransId="{60ECBAC3-707E-4648-B772-721D4804DA8F}"/>
    <dgm:cxn modelId="{70D74AFF-8163-45F5-8D67-60A4A4C0C770}" type="presOf" srcId="{E9E1FBE2-4D48-478F-9DDE-7C9898C32FBE}" destId="{70DE90FA-3627-471B-BE0A-D0191ACD69F0}" srcOrd="0" destOrd="0" presId="urn:microsoft.com/office/officeart/2018/2/layout/IconLabelList"/>
    <dgm:cxn modelId="{4A9210F8-4C56-4069-839D-7054DD47339A}" type="presParOf" srcId="{E6E4A8FF-63E9-4940-A180-F024A24CDA5B}" destId="{959240A0-352E-4E60-AD0B-B6298A5ECA74}" srcOrd="0" destOrd="0" presId="urn:microsoft.com/office/officeart/2018/2/layout/IconLabelList"/>
    <dgm:cxn modelId="{156645DF-CA73-46CF-8A20-E2ED844628A9}" type="presParOf" srcId="{959240A0-352E-4E60-AD0B-B6298A5ECA74}" destId="{D582B1C7-4C1F-4634-A3AA-736F3F194CAB}" srcOrd="0" destOrd="0" presId="urn:microsoft.com/office/officeart/2018/2/layout/IconLabelList"/>
    <dgm:cxn modelId="{8B9434E5-B773-4FAD-861A-86F63795D218}" type="presParOf" srcId="{959240A0-352E-4E60-AD0B-B6298A5ECA74}" destId="{EE8FB7E3-D20F-449B-B614-6D1A4B7EF1E0}" srcOrd="1" destOrd="0" presId="urn:microsoft.com/office/officeart/2018/2/layout/IconLabelList"/>
    <dgm:cxn modelId="{F7C59279-0293-4F54-A039-F8BBBB9C429C}" type="presParOf" srcId="{959240A0-352E-4E60-AD0B-B6298A5ECA74}" destId="{42E4D494-34EA-4681-A238-6B28411ECD26}" srcOrd="2" destOrd="0" presId="urn:microsoft.com/office/officeart/2018/2/layout/IconLabelList"/>
    <dgm:cxn modelId="{D84C926E-8C2A-4F5F-96B4-2B536919F112}" type="presParOf" srcId="{E6E4A8FF-63E9-4940-A180-F024A24CDA5B}" destId="{15A2994E-5681-4A71-B308-CEB284571ED7}" srcOrd="1" destOrd="0" presId="urn:microsoft.com/office/officeart/2018/2/layout/IconLabelList"/>
    <dgm:cxn modelId="{7E2B7B1D-DC70-4046-A5E0-79CB8AE3D5EB}" type="presParOf" srcId="{E6E4A8FF-63E9-4940-A180-F024A24CDA5B}" destId="{048DED17-2B5F-4473-B512-D42F0CF94248}" srcOrd="2" destOrd="0" presId="urn:microsoft.com/office/officeart/2018/2/layout/IconLabelList"/>
    <dgm:cxn modelId="{01C1BCE4-E460-4767-B3E1-387A89644B80}" type="presParOf" srcId="{048DED17-2B5F-4473-B512-D42F0CF94248}" destId="{43793E5E-883C-400C-B8BA-18FC37D08E7A}" srcOrd="0" destOrd="0" presId="urn:microsoft.com/office/officeart/2018/2/layout/IconLabelList"/>
    <dgm:cxn modelId="{2CF16320-1C9E-4925-96A6-C7EC57C2D6E0}" type="presParOf" srcId="{048DED17-2B5F-4473-B512-D42F0CF94248}" destId="{F3E84138-CB20-4842-9FA9-FD1D150C881C}" srcOrd="1" destOrd="0" presId="urn:microsoft.com/office/officeart/2018/2/layout/IconLabelList"/>
    <dgm:cxn modelId="{59F51E38-D356-492E-8C7C-6DBCF1B90348}" type="presParOf" srcId="{048DED17-2B5F-4473-B512-D42F0CF94248}" destId="{B9667C2C-490D-47BF-8E0D-13ABA0521DF0}" srcOrd="2" destOrd="0" presId="urn:microsoft.com/office/officeart/2018/2/layout/IconLabelList"/>
    <dgm:cxn modelId="{521FB788-E856-4603-A11D-D6ED7BF1FD2A}" type="presParOf" srcId="{E6E4A8FF-63E9-4940-A180-F024A24CDA5B}" destId="{AF76E727-A989-49CD-850B-19E2425443DA}" srcOrd="3" destOrd="0" presId="urn:microsoft.com/office/officeart/2018/2/layout/IconLabelList"/>
    <dgm:cxn modelId="{794B4895-599D-4774-A9EF-4AE417F044AB}" type="presParOf" srcId="{E6E4A8FF-63E9-4940-A180-F024A24CDA5B}" destId="{ABEC3140-59FF-41A2-BB2C-E345328378D3}" srcOrd="4" destOrd="0" presId="urn:microsoft.com/office/officeart/2018/2/layout/IconLabelList"/>
    <dgm:cxn modelId="{BDFEAB7B-EC76-46CF-8D63-B9254DA98460}" type="presParOf" srcId="{ABEC3140-59FF-41A2-BB2C-E345328378D3}" destId="{5FE9D2F2-C38C-468F-A068-844D35A10A6A}" srcOrd="0" destOrd="0" presId="urn:microsoft.com/office/officeart/2018/2/layout/IconLabelList"/>
    <dgm:cxn modelId="{4D1BE23A-4E5D-49AD-8BA4-54004FEC06DD}" type="presParOf" srcId="{ABEC3140-59FF-41A2-BB2C-E345328378D3}" destId="{462E91A3-6221-491D-9CC0-4F0868DD4B31}" srcOrd="1" destOrd="0" presId="urn:microsoft.com/office/officeart/2018/2/layout/IconLabelList"/>
    <dgm:cxn modelId="{E1417818-5DB5-4E0D-AA0D-48EBE15711E7}" type="presParOf" srcId="{ABEC3140-59FF-41A2-BB2C-E345328378D3}" destId="{70DE90FA-3627-471B-BE0A-D0191ACD69F0}" srcOrd="2" destOrd="0" presId="urn:microsoft.com/office/officeart/2018/2/layout/Icon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08153C-96C3-4E2B-A3A0-1FBAF29B53CB}">
      <dsp:nvSpPr>
        <dsp:cNvPr id="0" name=""/>
        <dsp:cNvSpPr/>
      </dsp:nvSpPr>
      <dsp:spPr>
        <a:xfrm>
          <a:off x="616949" y="256422"/>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1323B8-D9C6-4188-B198-3F8F234C3B0F}">
      <dsp:nvSpPr>
        <dsp:cNvPr id="0" name=""/>
        <dsp:cNvSpPr/>
      </dsp:nvSpPr>
      <dsp:spPr>
        <a:xfrm>
          <a:off x="1004512" y="64398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5006E2-E6B5-4819-AFC4-D9B6FF535BFC}">
      <dsp:nvSpPr>
        <dsp:cNvPr id="0" name=""/>
        <dsp:cNvSpPr/>
      </dsp:nvSpPr>
      <dsp:spPr>
        <a:xfrm>
          <a:off x="35606"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Testing reduces transmission</a:t>
          </a:r>
        </a:p>
      </dsp:txBody>
      <dsp:txXfrm>
        <a:off x="35606" y="2641422"/>
        <a:ext cx="2981250" cy="720000"/>
      </dsp:txXfrm>
    </dsp:sp>
    <dsp:sp modelId="{A196FD53-5E18-47A3-9E6B-BB331E2238BE}">
      <dsp:nvSpPr>
        <dsp:cNvPr id="0" name=""/>
        <dsp:cNvSpPr/>
      </dsp:nvSpPr>
      <dsp:spPr>
        <a:xfrm>
          <a:off x="4119918" y="256422"/>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37B01A-BE51-493D-A7E0-75F0693B0880}">
      <dsp:nvSpPr>
        <dsp:cNvPr id="0" name=""/>
        <dsp:cNvSpPr/>
      </dsp:nvSpPr>
      <dsp:spPr>
        <a:xfrm>
          <a:off x="4507481" y="643984"/>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5050A2-622E-4C63-B441-19F1CAC13E62}">
      <dsp:nvSpPr>
        <dsp:cNvPr id="0" name=""/>
        <dsp:cNvSpPr/>
      </dsp:nvSpPr>
      <dsp:spPr>
        <a:xfrm>
          <a:off x="3538574"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Effects are delayed but reliable</a:t>
          </a:r>
        </a:p>
      </dsp:txBody>
      <dsp:txXfrm>
        <a:off x="3538574" y="2641422"/>
        <a:ext cx="2981250" cy="720000"/>
      </dsp:txXfrm>
    </dsp:sp>
    <dsp:sp modelId="{50440597-6A95-46C7-994B-8C1CF8A5679F}">
      <dsp:nvSpPr>
        <dsp:cNvPr id="0" name=""/>
        <dsp:cNvSpPr/>
      </dsp:nvSpPr>
      <dsp:spPr>
        <a:xfrm>
          <a:off x="7622887" y="256422"/>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339BC-0486-49B6-9CA9-AE7BD79C29F3}">
      <dsp:nvSpPr>
        <dsp:cNvPr id="0" name=""/>
        <dsp:cNvSpPr/>
      </dsp:nvSpPr>
      <dsp:spPr>
        <a:xfrm>
          <a:off x="8010450" y="643984"/>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D9F8BF-1A1B-4133-8CB0-566B82316793}">
      <dsp:nvSpPr>
        <dsp:cNvPr id="0" name=""/>
        <dsp:cNvSpPr/>
      </dsp:nvSpPr>
      <dsp:spPr>
        <a:xfrm>
          <a:off x="7041543"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Results align with literature</a:t>
          </a:r>
        </a:p>
      </dsp:txBody>
      <dsp:txXfrm>
        <a:off x="7041543" y="2641422"/>
        <a:ext cx="2981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1C19A8-8078-4AB1-8D6E-3D914188BD8C}">
      <dsp:nvSpPr>
        <dsp:cNvPr id="0" name=""/>
        <dsp:cNvSpPr/>
      </dsp:nvSpPr>
      <dsp:spPr>
        <a:xfrm>
          <a:off x="616949" y="256422"/>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87ED95-C708-46A7-B9FC-D2C9C430576C}">
      <dsp:nvSpPr>
        <dsp:cNvPr id="0" name=""/>
        <dsp:cNvSpPr/>
      </dsp:nvSpPr>
      <dsp:spPr>
        <a:xfrm>
          <a:off x="1004512" y="64398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62827A-C7D7-4B39-ADE8-4A03B67AC6C3}">
      <dsp:nvSpPr>
        <dsp:cNvPr id="0" name=""/>
        <dsp:cNvSpPr/>
      </dsp:nvSpPr>
      <dsp:spPr>
        <a:xfrm>
          <a:off x="35606"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Observational data</a:t>
          </a:r>
        </a:p>
      </dsp:txBody>
      <dsp:txXfrm>
        <a:off x="35606" y="2641422"/>
        <a:ext cx="2981250" cy="720000"/>
      </dsp:txXfrm>
    </dsp:sp>
    <dsp:sp modelId="{5A580BE0-2B3E-4A9B-9F96-A8009806B8EE}">
      <dsp:nvSpPr>
        <dsp:cNvPr id="0" name=""/>
        <dsp:cNvSpPr/>
      </dsp:nvSpPr>
      <dsp:spPr>
        <a:xfrm>
          <a:off x="4119918" y="256422"/>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804B62-161E-4C2F-958F-077F94EB057E}">
      <dsp:nvSpPr>
        <dsp:cNvPr id="0" name=""/>
        <dsp:cNvSpPr/>
      </dsp:nvSpPr>
      <dsp:spPr>
        <a:xfrm>
          <a:off x="4507481" y="643984"/>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91E50F-353C-4EF3-9AA1-95C88C376465}">
      <dsp:nvSpPr>
        <dsp:cNvPr id="0" name=""/>
        <dsp:cNvSpPr/>
      </dsp:nvSpPr>
      <dsp:spPr>
        <a:xfrm>
          <a:off x="3538574"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Variation in country reporting</a:t>
          </a:r>
        </a:p>
      </dsp:txBody>
      <dsp:txXfrm>
        <a:off x="3538574" y="2641422"/>
        <a:ext cx="2981250" cy="720000"/>
      </dsp:txXfrm>
    </dsp:sp>
    <dsp:sp modelId="{0B5F4DA6-6153-4BF8-BD04-252BEF6A2D3D}">
      <dsp:nvSpPr>
        <dsp:cNvPr id="0" name=""/>
        <dsp:cNvSpPr/>
      </dsp:nvSpPr>
      <dsp:spPr>
        <a:xfrm>
          <a:off x="7622887" y="256422"/>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A5D702-A6BF-4BA7-A7E6-A3DB6184D944}">
      <dsp:nvSpPr>
        <dsp:cNvPr id="0" name=""/>
        <dsp:cNvSpPr/>
      </dsp:nvSpPr>
      <dsp:spPr>
        <a:xfrm>
          <a:off x="8010450" y="643984"/>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734BC9-9F08-4927-8E5E-AE981E1D28F6}">
      <dsp:nvSpPr>
        <dsp:cNvPr id="0" name=""/>
        <dsp:cNvSpPr/>
      </dsp:nvSpPr>
      <dsp:spPr>
        <a:xfrm>
          <a:off x="7041543"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Cannot measure all policy differences</a:t>
          </a:r>
        </a:p>
      </dsp:txBody>
      <dsp:txXfrm>
        <a:off x="7041543" y="2641422"/>
        <a:ext cx="2981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B3F56-85B6-F048-BD22-0288F67091D5}">
      <dsp:nvSpPr>
        <dsp:cNvPr id="0" name=""/>
        <dsp:cNvSpPr/>
      </dsp:nvSpPr>
      <dsp:spPr>
        <a:xfrm>
          <a:off x="1227" y="1090640"/>
          <a:ext cx="2873126" cy="143656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Hypothesis supported</a:t>
          </a:r>
        </a:p>
      </dsp:txBody>
      <dsp:txXfrm>
        <a:off x="43302" y="1132715"/>
        <a:ext cx="2788976" cy="1352413"/>
      </dsp:txXfrm>
    </dsp:sp>
    <dsp:sp modelId="{A8425B9D-E750-2A4E-9AF8-69A7601537C2}">
      <dsp:nvSpPr>
        <dsp:cNvPr id="0" name=""/>
        <dsp:cNvSpPr/>
      </dsp:nvSpPr>
      <dsp:spPr>
        <a:xfrm>
          <a:off x="3592636" y="1090640"/>
          <a:ext cx="2873126" cy="1436563"/>
        </a:xfrm>
        <a:prstGeom prst="roundRect">
          <a:avLst>
            <a:gd name="adj" fmla="val 10000"/>
          </a:avLst>
        </a:prstGeom>
        <a:solidFill>
          <a:schemeClr val="accent2">
            <a:hueOff val="953895"/>
            <a:satOff val="-21764"/>
            <a:lumOff val="803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Testing slows case growth</a:t>
          </a:r>
        </a:p>
      </dsp:txBody>
      <dsp:txXfrm>
        <a:off x="3634711" y="1132715"/>
        <a:ext cx="2788976" cy="1352413"/>
      </dsp:txXfrm>
    </dsp:sp>
    <dsp:sp modelId="{D81EFF0B-F139-A945-B4C3-2C753485C54F}">
      <dsp:nvSpPr>
        <dsp:cNvPr id="0" name=""/>
        <dsp:cNvSpPr/>
      </dsp:nvSpPr>
      <dsp:spPr>
        <a:xfrm>
          <a:off x="7184045" y="1090640"/>
          <a:ext cx="2873126" cy="1436563"/>
        </a:xfrm>
        <a:prstGeom prst="roundRect">
          <a:avLst>
            <a:gd name="adj" fmla="val 10000"/>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a:t>Timing matters (7–14 days)</a:t>
          </a:r>
        </a:p>
      </dsp:txBody>
      <dsp:txXfrm>
        <a:off x="7226120" y="1132715"/>
        <a:ext cx="2788976" cy="13524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2B1C7-4C1F-4634-A3AA-736F3F194CAB}">
      <dsp:nvSpPr>
        <dsp:cNvPr id="0" name=""/>
        <dsp:cNvSpPr/>
      </dsp:nvSpPr>
      <dsp:spPr>
        <a:xfrm>
          <a:off x="1063980" y="635603"/>
          <a:ext cx="1274535" cy="12745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E4D494-34EA-4681-A238-6B28411ECD26}">
      <dsp:nvSpPr>
        <dsp:cNvPr id="0" name=""/>
        <dsp:cNvSpPr/>
      </dsp:nvSpPr>
      <dsp:spPr>
        <a:xfrm>
          <a:off x="285097"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Add more health-system variables</a:t>
          </a:r>
        </a:p>
      </dsp:txBody>
      <dsp:txXfrm>
        <a:off x="285097" y="2262241"/>
        <a:ext cx="2832300" cy="720000"/>
      </dsp:txXfrm>
    </dsp:sp>
    <dsp:sp modelId="{43793E5E-883C-400C-B8BA-18FC37D08E7A}">
      <dsp:nvSpPr>
        <dsp:cNvPr id="0" name=""/>
        <dsp:cNvSpPr/>
      </dsp:nvSpPr>
      <dsp:spPr>
        <a:xfrm>
          <a:off x="4391932" y="635603"/>
          <a:ext cx="1274535" cy="12745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667C2C-490D-47BF-8E0D-13ABA0521DF0}">
      <dsp:nvSpPr>
        <dsp:cNvPr id="0" name=""/>
        <dsp:cNvSpPr/>
      </dsp:nvSpPr>
      <dsp:spPr>
        <a:xfrm>
          <a:off x="3613050"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Use advanced causal inference</a:t>
          </a:r>
        </a:p>
      </dsp:txBody>
      <dsp:txXfrm>
        <a:off x="3613050" y="2262241"/>
        <a:ext cx="2832300" cy="720000"/>
      </dsp:txXfrm>
    </dsp:sp>
    <dsp:sp modelId="{5FE9D2F2-C38C-468F-A068-844D35A10A6A}">
      <dsp:nvSpPr>
        <dsp:cNvPr id="0" name=""/>
        <dsp:cNvSpPr/>
      </dsp:nvSpPr>
      <dsp:spPr>
        <a:xfrm>
          <a:off x="7719885" y="635603"/>
          <a:ext cx="1274535" cy="12745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DE90FA-3627-471B-BE0A-D0191ACD69F0}">
      <dsp:nvSpPr>
        <dsp:cNvPr id="0" name=""/>
        <dsp:cNvSpPr/>
      </dsp:nvSpPr>
      <dsp:spPr>
        <a:xfrm>
          <a:off x="6941002"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pPr>
          <a:r>
            <a:rPr lang="en-US" sz="2600" kern="1200"/>
            <a:t>Integrate real-time dashboards</a:t>
          </a:r>
        </a:p>
      </dsp:txBody>
      <dsp:txXfrm>
        <a:off x="6941002" y="2262241"/>
        <a:ext cx="28323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22AB7-D336-F14F-AABA-84BE4886F9A5}" type="datetimeFigureOut">
              <a:rPr lang="en-US" smtClean="0"/>
              <a:t>11/13/25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8925A-2082-9944-96F3-265E2E93E78D}" type="slidenum">
              <a:rPr lang="en-US" smtClean="0"/>
              <a:t>‹#›</a:t>
            </a:fld>
            <a:endParaRPr lang="en-US"/>
          </a:p>
        </p:txBody>
      </p:sp>
    </p:spTree>
    <p:extLst>
      <p:ext uri="{BB962C8B-B14F-4D97-AF65-F5344CB8AC3E}">
        <p14:creationId xmlns:p14="http://schemas.microsoft.com/office/powerpoint/2010/main" val="226055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my name is Debbie Cung, and welcome to my final thesis presentation for INFO I-492. In this project, I analyze global COVID-19 testing data to understand how testing influenced the spread of active cases across countries. I will walk through the background, hypothesis, literature findings, the dataset and methods, and then present the results, discussion, and implications.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a:t>
            </a:fld>
            <a:endParaRPr lang="en-US"/>
          </a:p>
        </p:txBody>
      </p:sp>
    </p:spTree>
    <p:extLst>
      <p:ext uri="{BB962C8B-B14F-4D97-AF65-F5344CB8AC3E}">
        <p14:creationId xmlns:p14="http://schemas.microsoft.com/office/powerpoint/2010/main" val="52079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set the stage, COVID-19 led to enormous global health and economic disruption. Testing quickly became one of the primary tools used to identify infected individuals and slow spread. However, testing capacity varied widely across countries, raising an important question—did more testing actually help control the pandemic? This project explores that question using global daily testing data.</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2</a:t>
            </a:fld>
            <a:endParaRPr lang="en-US"/>
          </a:p>
        </p:txBody>
      </p:sp>
    </p:spTree>
    <p:extLst>
      <p:ext uri="{BB962C8B-B14F-4D97-AF65-F5344CB8AC3E}">
        <p14:creationId xmlns:p14="http://schemas.microsoft.com/office/powerpoint/2010/main" val="1538390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many studies looked at various aspects of the pandemic, global evidence linking testing directly to case outcomes remained limited. Many researchers studied testing alone or outcomes alone, but not in an integrated way. This project fills that gap by using a standardized global dataset to measure the association between daily testing and COVID-19 case growth.</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3</a:t>
            </a:fld>
            <a:endParaRPr lang="en-US"/>
          </a:p>
        </p:txBody>
      </p:sp>
    </p:spTree>
    <p:extLst>
      <p:ext uri="{BB962C8B-B14F-4D97-AF65-F5344CB8AC3E}">
        <p14:creationId xmlns:p14="http://schemas.microsoft.com/office/powerpoint/2010/main" val="2999762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main hypothesis is that as countries increase their daily testing rates, active case growth should decrease after a short delay, since early detection helps isolate cases before they spread further.</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4</a:t>
            </a:fld>
            <a:endParaRPr lang="en-US"/>
          </a:p>
        </p:txBody>
      </p:sp>
    </p:spTree>
    <p:extLst>
      <p:ext uri="{BB962C8B-B14F-4D97-AF65-F5344CB8AC3E}">
        <p14:creationId xmlns:p14="http://schemas.microsoft.com/office/powerpoint/2010/main" val="984238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Scholars consistently show that early and widespread testing is crucial for slowing transmission. However, they also highlight issues such as inconsistent data reporting and uneven access to healthcare resources. Most importantly, previous research rarely links testing directly to epidemiological outcomes in a unified framework—this is the primary gap my study addresses.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5</a:t>
            </a:fld>
            <a:endParaRPr lang="en-US"/>
          </a:p>
        </p:txBody>
      </p:sp>
    </p:spTree>
    <p:extLst>
      <p:ext uri="{BB962C8B-B14F-4D97-AF65-F5344CB8AC3E}">
        <p14:creationId xmlns:p14="http://schemas.microsoft.com/office/powerpoint/2010/main" val="4019577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Studies by </a:t>
            </a:r>
            <a:r>
              <a:rPr lang="en-US" dirty="0" err="1"/>
              <a:t>Chinazzi</a:t>
            </a:r>
            <a:r>
              <a:rPr lang="en-US" dirty="0"/>
              <a:t>, Walker, and Li emphasize the importance of early testing but note large differences in capacity. Other work shows that hospitals with limited resources experienced worse outcomes. Policy studies highlight that testing improves the effectiveness of restrictions. Together, these findings suggest strong potential links between testing and case outcomes, but these links haven’t been measured at scale.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6</a:t>
            </a:fld>
            <a:endParaRPr lang="en-US"/>
          </a:p>
        </p:txBody>
      </p:sp>
    </p:spTree>
    <p:extLst>
      <p:ext uri="{BB962C8B-B14F-4D97-AF65-F5344CB8AC3E}">
        <p14:creationId xmlns:p14="http://schemas.microsoft.com/office/powerpoint/2010/main" val="3859307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analysis uses the Kaggle COVID-19 Worldwide Testing Data file, which provides daily testing, case, recovery, and death counts for over one hundred countries. It allows consistent cross-country comparisons over the course of the pandemic.</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7</a:t>
            </a:fld>
            <a:endParaRPr lang="en-US"/>
          </a:p>
        </p:txBody>
      </p:sp>
    </p:spTree>
    <p:extLst>
      <p:ext uri="{BB962C8B-B14F-4D97-AF65-F5344CB8AC3E}">
        <p14:creationId xmlns:p14="http://schemas.microsoft.com/office/powerpoint/2010/main" val="3750515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prepare the dataset, I removed invalid negative values, filled missing data within countries, then smoothed noisy patterns using 7-day averages. I also created growth-rate variables and lagged testing values to measure how testing affects case changes over time.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8</a:t>
            </a:fld>
            <a:endParaRPr lang="en-US"/>
          </a:p>
        </p:txBody>
      </p:sp>
    </p:spTree>
    <p:extLst>
      <p:ext uri="{BB962C8B-B14F-4D97-AF65-F5344CB8AC3E}">
        <p14:creationId xmlns:p14="http://schemas.microsoft.com/office/powerpoint/2010/main" val="2201611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analysis uses a fixed-effects regression model, which controls for country-specific and time-specific differences. I confirm reliability using bootstrap and jackknife tests and examine timing effects using distributed-lag modeling.</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9</a:t>
            </a:fld>
            <a:endParaRPr lang="en-US"/>
          </a:p>
        </p:txBody>
      </p:sp>
    </p:spTree>
    <p:extLst>
      <p:ext uri="{BB962C8B-B14F-4D97-AF65-F5344CB8AC3E}">
        <p14:creationId xmlns:p14="http://schemas.microsoft.com/office/powerpoint/2010/main" val="271730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regression summary shows a clear pattern: testing consistently predicts slower active-case growth. The negative coefficients remain stable across multiple specifications, confirming the hypothesis.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10</a:t>
            </a:fld>
            <a:endParaRPr lang="en-US"/>
          </a:p>
        </p:txBody>
      </p:sp>
    </p:spTree>
    <p:extLst>
      <p:ext uri="{BB962C8B-B14F-4D97-AF65-F5344CB8AC3E}">
        <p14:creationId xmlns:p14="http://schemas.microsoft.com/office/powerpoint/2010/main" val="2367366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bootstrap histogram shows that across 1,000 resamples, the estimated effect stays negative. This demonstrates that the main result is not sensitive to random variations in the dataset.</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11</a:t>
            </a:fld>
            <a:endParaRPr lang="en-US"/>
          </a:p>
        </p:txBody>
      </p:sp>
    </p:spTree>
    <p:extLst>
      <p:ext uri="{BB962C8B-B14F-4D97-AF65-F5344CB8AC3E}">
        <p14:creationId xmlns:p14="http://schemas.microsoft.com/office/powerpoint/2010/main" val="148415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jackknife distribution shows that removing any single country does not change the overall finding. This means no one country dominated the results.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12</a:t>
            </a:fld>
            <a:endParaRPr lang="en-US"/>
          </a:p>
        </p:txBody>
      </p:sp>
    </p:spTree>
    <p:extLst>
      <p:ext uri="{BB962C8B-B14F-4D97-AF65-F5344CB8AC3E}">
        <p14:creationId xmlns:p14="http://schemas.microsoft.com/office/powerpoint/2010/main" val="437772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distributed-lag plot reveals that testing has the largest effect about one to two weeks later. This aligns exactly with known infection and reporting timelines.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13</a:t>
            </a:fld>
            <a:endParaRPr lang="en-US"/>
          </a:p>
        </p:txBody>
      </p:sp>
    </p:spTree>
    <p:extLst>
      <p:ext uri="{BB962C8B-B14F-4D97-AF65-F5344CB8AC3E}">
        <p14:creationId xmlns:p14="http://schemas.microsoft.com/office/powerpoint/2010/main" val="3987196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binned scatter plot makes the relationship visually obvious. After controlling for country and time, higher testing levels correspond to lower growth rates.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14</a:t>
            </a:fld>
            <a:endParaRPr lang="en-US"/>
          </a:p>
        </p:txBody>
      </p:sp>
    </p:spTree>
    <p:extLst>
      <p:ext uri="{BB962C8B-B14F-4D97-AF65-F5344CB8AC3E}">
        <p14:creationId xmlns:p14="http://schemas.microsoft.com/office/powerpoint/2010/main" val="3622337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findings confirm that testing is an effective tool for slowing spread. The strongest effects appear after a short delay, supporting the logic of early detection and isolation. The results reinforce and extend previous research.</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15</a:t>
            </a:fld>
            <a:endParaRPr lang="en-US"/>
          </a:p>
        </p:txBody>
      </p:sp>
    </p:spTree>
    <p:extLst>
      <p:ext uri="{BB962C8B-B14F-4D97-AF65-F5344CB8AC3E}">
        <p14:creationId xmlns:p14="http://schemas.microsoft.com/office/powerpoint/2010/main" val="3001617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limitations remain, such as country-level reporting variation and the inability to fully separate testing from other policies. Nonetheless, the consistency across robustness tests supports the reliability of the results.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16</a:t>
            </a:fld>
            <a:endParaRPr lang="en-US"/>
          </a:p>
        </p:txBody>
      </p:sp>
    </p:spTree>
    <p:extLst>
      <p:ext uri="{BB962C8B-B14F-4D97-AF65-F5344CB8AC3E}">
        <p14:creationId xmlns:p14="http://schemas.microsoft.com/office/powerpoint/2010/main" val="4049874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evidence strongly supports the hypothesis. Countries that tested more frequently experienced slower case growth, especially after a one- to two-week lag. Testing should be considered a core component of pandemic response.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17</a:t>
            </a:fld>
            <a:endParaRPr lang="en-US"/>
          </a:p>
        </p:txBody>
      </p:sp>
    </p:spTree>
    <p:extLst>
      <p:ext uri="{BB962C8B-B14F-4D97-AF65-F5344CB8AC3E}">
        <p14:creationId xmlns:p14="http://schemas.microsoft.com/office/powerpoint/2010/main" val="4016602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Future research should include more detailed hospitalization and vaccination data, apply more advanced causal methods, and build real-time dashboards that support policy decisions during future outbreaks.</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18</a:t>
            </a:fld>
            <a:endParaRPr lang="en-US"/>
          </a:p>
        </p:txBody>
      </p:sp>
    </p:spTree>
    <p:extLst>
      <p:ext uri="{BB962C8B-B14F-4D97-AF65-F5344CB8AC3E}">
        <p14:creationId xmlns:p14="http://schemas.microsoft.com/office/powerpoint/2010/main" val="1064034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for listening to my presentation. I appreciate your time.</a:t>
            </a:r>
          </a:p>
          <a:p>
            <a:endParaRPr lang="en-US" dirty="0"/>
          </a:p>
        </p:txBody>
      </p:sp>
      <p:sp>
        <p:nvSpPr>
          <p:cNvPr id="4" name="Slide Number Placeholder 3"/>
          <p:cNvSpPr>
            <a:spLocks noGrp="1"/>
          </p:cNvSpPr>
          <p:nvPr>
            <p:ph type="sldNum" sz="quarter" idx="5"/>
          </p:nvPr>
        </p:nvSpPr>
        <p:spPr/>
        <p:txBody>
          <a:bodyPr/>
          <a:lstStyle/>
          <a:p>
            <a:fld id="{B5D8925A-2082-9944-96F3-265E2E93E78D}" type="slidenum">
              <a:rPr lang="en-US" smtClean="0"/>
              <a:t>19</a:t>
            </a:fld>
            <a:endParaRPr lang="en-US"/>
          </a:p>
        </p:txBody>
      </p:sp>
    </p:spTree>
    <p:extLst>
      <p:ext uri="{BB962C8B-B14F-4D97-AF65-F5344CB8AC3E}">
        <p14:creationId xmlns:p14="http://schemas.microsoft.com/office/powerpoint/2010/main" val="91657515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11/13/25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11/13/25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11/13/25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11/13/25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11/13/25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11/13/25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11/13/25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png"/><Relationship Id="rId7" Type="http://schemas.openxmlformats.org/officeDocument/2006/relationships/diagramQuickStyle" Target="../diagrams/quickStyle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microsoft.com/office/2007/relationships/hdphoto" Target="../media/hdphoto2.wdp"/><Relationship Id="rId9" Type="http://schemas.microsoft.com/office/2007/relationships/diagramDrawing" Target="../diagrams/drawing1.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4.png"/><Relationship Id="rId7" Type="http://schemas.openxmlformats.org/officeDocument/2006/relationships/diagramQuickStyle" Target="../diagrams/quickStyle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microsoft.com/office/2007/relationships/hdphoto" Target="../media/hdphoto2.wdp"/><Relationship Id="rId9" Type="http://schemas.microsoft.com/office/2007/relationships/diagramDrawing" Target="../diagrams/drawing2.xml"/></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4.png"/><Relationship Id="rId7" Type="http://schemas.openxmlformats.org/officeDocument/2006/relationships/diagramQuickStyle" Target="../diagrams/quickStyle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microsoft.com/office/2007/relationships/hdphoto" Target="../media/hdphoto2.wdp"/><Relationship Id="rId9" Type="http://schemas.microsoft.com/office/2007/relationships/diagramDrawing" Target="../diagrams/drawing3.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4.png"/><Relationship Id="rId7" Type="http://schemas.openxmlformats.org/officeDocument/2006/relationships/diagramQuickStyle" Target="../diagrams/quickStyle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microsoft.com/office/2007/relationships/hdphoto" Target="../media/hdphoto2.wdp"/><Relationship Id="rId9" Type="http://schemas.microsoft.com/office/2007/relationships/diagramDrawing" Target="../diagrams/drawing4.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8E6F8-1745-60A3-55EF-FDE4D5D76F7A}"/>
              </a:ext>
            </a:extLst>
          </p:cNvPr>
          <p:cNvSpPr>
            <a:spLocks noGrp="1"/>
          </p:cNvSpPr>
          <p:nvPr>
            <p:ph type="ctrTitle"/>
          </p:nvPr>
        </p:nvSpPr>
        <p:spPr>
          <a:xfrm>
            <a:off x="817581" y="1432222"/>
            <a:ext cx="10467191" cy="2956897"/>
          </a:xfrm>
        </p:spPr>
        <p:txBody>
          <a:bodyPr>
            <a:normAutofit fontScale="90000"/>
          </a:bodyPr>
          <a:lstStyle/>
          <a:p>
            <a:pPr algn="ctr"/>
            <a:br>
              <a:rPr lang="en-US" sz="4900" b="1" dirty="0"/>
            </a:br>
            <a:br>
              <a:rPr lang="en-US" sz="4900" b="1" dirty="0"/>
            </a:br>
            <a:r>
              <a:rPr lang="en-US" sz="4900" b="1" dirty="0"/>
              <a:t>Investigating COVID-19 Virus Trends</a:t>
            </a:r>
            <a:br>
              <a:rPr lang="en-US" b="1" dirty="0"/>
            </a:br>
            <a:endParaRPr lang="en-US" dirty="0"/>
          </a:p>
        </p:txBody>
      </p:sp>
      <p:sp>
        <p:nvSpPr>
          <p:cNvPr id="3" name="Subtitle 2">
            <a:extLst>
              <a:ext uri="{FF2B5EF4-FFF2-40B4-BE49-F238E27FC236}">
                <a16:creationId xmlns:a16="http://schemas.microsoft.com/office/drawing/2014/main" id="{D65005CE-C30E-5E7F-6605-3DAF0F785357}"/>
              </a:ext>
            </a:extLst>
          </p:cNvPr>
          <p:cNvSpPr>
            <a:spLocks noGrp="1"/>
          </p:cNvSpPr>
          <p:nvPr>
            <p:ph type="subTitle" idx="1"/>
          </p:nvPr>
        </p:nvSpPr>
        <p:spPr>
          <a:xfrm>
            <a:off x="5606041" y="4389119"/>
            <a:ext cx="4050707" cy="1069848"/>
          </a:xfrm>
        </p:spPr>
        <p:txBody>
          <a:bodyPr>
            <a:noAutofit/>
          </a:bodyPr>
          <a:lstStyle/>
          <a:p>
            <a:r>
              <a:rPr lang="en-US" sz="2800" dirty="0">
                <a:latin typeface="+mj-lt"/>
              </a:rPr>
              <a:t>Debbie Cung</a:t>
            </a:r>
            <a:br>
              <a:rPr lang="en-US" sz="2800" dirty="0">
                <a:latin typeface="+mj-lt"/>
              </a:rPr>
            </a:br>
            <a:r>
              <a:rPr lang="en-US" sz="2800" dirty="0">
                <a:latin typeface="+mj-lt"/>
              </a:rPr>
              <a:t>INFO I-492 Final Thesis Project</a:t>
            </a:r>
            <a:br>
              <a:rPr lang="en-US" sz="2800" dirty="0">
                <a:latin typeface="+mj-lt"/>
              </a:rPr>
            </a:br>
            <a:r>
              <a:rPr lang="en-US" sz="2800" dirty="0">
                <a:latin typeface="+mj-lt"/>
              </a:rPr>
              <a:t>Indiana University</a:t>
            </a:r>
          </a:p>
        </p:txBody>
      </p:sp>
    </p:spTree>
    <p:extLst>
      <p:ext uri="{BB962C8B-B14F-4D97-AF65-F5344CB8AC3E}">
        <p14:creationId xmlns:p14="http://schemas.microsoft.com/office/powerpoint/2010/main" val="2785009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5967-131D-E22E-8998-ECAC8748D808}"/>
              </a:ext>
            </a:extLst>
          </p:cNvPr>
          <p:cNvSpPr>
            <a:spLocks noGrp="1"/>
          </p:cNvSpPr>
          <p:nvPr>
            <p:ph type="title"/>
          </p:nvPr>
        </p:nvSpPr>
        <p:spPr>
          <a:xfrm>
            <a:off x="941662" y="612819"/>
            <a:ext cx="10058400" cy="968153"/>
          </a:xfrm>
        </p:spPr>
        <p:txBody>
          <a:bodyPr>
            <a:normAutofit fontScale="90000"/>
          </a:bodyPr>
          <a:lstStyle/>
          <a:p>
            <a:r>
              <a:rPr lang="en-US" sz="4900" b="1" dirty="0"/>
              <a:t>Background &amp; Research Motivation</a:t>
            </a:r>
            <a:endParaRPr lang="en-US" dirty="0"/>
          </a:p>
        </p:txBody>
      </p:sp>
      <p:sp>
        <p:nvSpPr>
          <p:cNvPr id="3" name="Content Placeholder 2">
            <a:extLst>
              <a:ext uri="{FF2B5EF4-FFF2-40B4-BE49-F238E27FC236}">
                <a16:creationId xmlns:a16="http://schemas.microsoft.com/office/drawing/2014/main" id="{D5B24E98-4FC2-9A53-F6BD-CD196CE2A813}"/>
              </a:ext>
            </a:extLst>
          </p:cNvPr>
          <p:cNvSpPr>
            <a:spLocks noGrp="1"/>
          </p:cNvSpPr>
          <p:nvPr>
            <p:ph idx="1"/>
          </p:nvPr>
        </p:nvSpPr>
        <p:spPr>
          <a:xfrm>
            <a:off x="2281727" y="2273181"/>
            <a:ext cx="8846521" cy="3076486"/>
          </a:xfrm>
        </p:spPr>
        <p:txBody>
          <a:bodyPr>
            <a:normAutofit/>
          </a:bodyPr>
          <a:lstStyle/>
          <a:p>
            <a:r>
              <a:rPr lang="en-US" dirty="0"/>
              <a:t>COVID-19 created unprecedented global challenges</a:t>
            </a:r>
          </a:p>
          <a:p>
            <a:pPr marL="0" indent="0">
              <a:buNone/>
            </a:pPr>
            <a:endParaRPr lang="en-US" dirty="0"/>
          </a:p>
          <a:p>
            <a:r>
              <a:rPr lang="en-US" dirty="0"/>
              <a:t>Testing became a primary tool for identifying infections</a:t>
            </a:r>
          </a:p>
          <a:p>
            <a:pPr marL="0" indent="0">
              <a:buNone/>
            </a:pPr>
            <a:endParaRPr lang="en-US" dirty="0"/>
          </a:p>
          <a:p>
            <a:r>
              <a:rPr lang="en-US" dirty="0"/>
              <a:t>Countries differed widely in testing capacity</a:t>
            </a:r>
          </a:p>
          <a:p>
            <a:pPr marL="0" indent="0">
              <a:buNone/>
            </a:pPr>
            <a:endParaRPr lang="en-US" dirty="0"/>
          </a:p>
          <a:p>
            <a:r>
              <a:rPr lang="en-US" dirty="0"/>
              <a:t>Central question: </a:t>
            </a:r>
            <a:r>
              <a:rPr lang="en-US" i="1" dirty="0"/>
              <a:t>Did increased testing actually slow pandemic growth?</a:t>
            </a:r>
            <a:endParaRPr lang="en-US" dirty="0"/>
          </a:p>
        </p:txBody>
      </p:sp>
    </p:spTree>
    <p:extLst>
      <p:ext uri="{BB962C8B-B14F-4D97-AF65-F5344CB8AC3E}">
        <p14:creationId xmlns:p14="http://schemas.microsoft.com/office/powerpoint/2010/main" val="2458688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606C-7939-DF0A-C118-9EE904D34026}"/>
              </a:ext>
            </a:extLst>
          </p:cNvPr>
          <p:cNvSpPr>
            <a:spLocks noGrp="1"/>
          </p:cNvSpPr>
          <p:nvPr>
            <p:ph type="title"/>
          </p:nvPr>
        </p:nvSpPr>
        <p:spPr/>
        <p:txBody>
          <a:bodyPr>
            <a:normAutofit/>
          </a:bodyPr>
          <a:lstStyle/>
          <a:p>
            <a:r>
              <a:rPr lang="en-US" sz="4400" b="1" dirty="0"/>
              <a:t>Research Problem &amp; Significance</a:t>
            </a:r>
            <a:endParaRPr lang="en-US" sz="4400" dirty="0"/>
          </a:p>
        </p:txBody>
      </p:sp>
      <p:sp>
        <p:nvSpPr>
          <p:cNvPr id="3" name="Content Placeholder 2">
            <a:extLst>
              <a:ext uri="{FF2B5EF4-FFF2-40B4-BE49-F238E27FC236}">
                <a16:creationId xmlns:a16="http://schemas.microsoft.com/office/drawing/2014/main" id="{C41E7E56-7C35-CDE2-D430-C4F61FAFA119}"/>
              </a:ext>
            </a:extLst>
          </p:cNvPr>
          <p:cNvSpPr>
            <a:spLocks noGrp="1"/>
          </p:cNvSpPr>
          <p:nvPr>
            <p:ph idx="1"/>
          </p:nvPr>
        </p:nvSpPr>
        <p:spPr>
          <a:xfrm>
            <a:off x="2011922" y="2093976"/>
            <a:ext cx="8168156" cy="3467542"/>
          </a:xfrm>
        </p:spPr>
        <p:txBody>
          <a:bodyPr/>
          <a:lstStyle/>
          <a:p>
            <a:r>
              <a:rPr lang="en-US" dirty="0"/>
              <a:t>Problem: unclear global evidence on testing effectiveness</a:t>
            </a:r>
          </a:p>
          <a:p>
            <a:endParaRPr lang="en-US" dirty="0"/>
          </a:p>
          <a:p>
            <a:r>
              <a:rPr lang="en-US" dirty="0"/>
              <a:t>Many studies examine testing OR outcomes, but not both</a:t>
            </a:r>
          </a:p>
          <a:p>
            <a:endParaRPr lang="en-US" dirty="0"/>
          </a:p>
          <a:p>
            <a:r>
              <a:rPr lang="en-US" dirty="0"/>
              <a:t>Need for standardized cross-country analysis</a:t>
            </a:r>
          </a:p>
          <a:p>
            <a:endParaRPr lang="en-US" dirty="0"/>
          </a:p>
          <a:p>
            <a:r>
              <a:rPr lang="en-US" dirty="0"/>
              <a:t>Real-world relevance for future pandemics</a:t>
            </a:r>
          </a:p>
          <a:p>
            <a:pPr marL="0" indent="0">
              <a:buNone/>
            </a:pPr>
            <a:endParaRPr lang="en-US" dirty="0"/>
          </a:p>
        </p:txBody>
      </p:sp>
    </p:spTree>
    <p:extLst>
      <p:ext uri="{BB962C8B-B14F-4D97-AF65-F5344CB8AC3E}">
        <p14:creationId xmlns:p14="http://schemas.microsoft.com/office/powerpoint/2010/main" val="123149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98236-B2D2-C935-2536-1E4A03FA3AB2}"/>
              </a:ext>
            </a:extLst>
          </p:cNvPr>
          <p:cNvSpPr>
            <a:spLocks noGrp="1"/>
          </p:cNvSpPr>
          <p:nvPr>
            <p:ph type="title"/>
          </p:nvPr>
        </p:nvSpPr>
        <p:spPr/>
        <p:txBody>
          <a:bodyPr/>
          <a:lstStyle/>
          <a:p>
            <a:r>
              <a:rPr lang="en-US" sz="4400" b="1" dirty="0"/>
              <a:t>Hypothesis</a:t>
            </a:r>
            <a:endParaRPr lang="en-US" dirty="0"/>
          </a:p>
        </p:txBody>
      </p:sp>
      <p:sp>
        <p:nvSpPr>
          <p:cNvPr id="3" name="Content Placeholder 2">
            <a:extLst>
              <a:ext uri="{FF2B5EF4-FFF2-40B4-BE49-F238E27FC236}">
                <a16:creationId xmlns:a16="http://schemas.microsoft.com/office/drawing/2014/main" id="{00DDEDB9-F8CD-6F20-02B2-15C212C0A6A1}"/>
              </a:ext>
            </a:extLst>
          </p:cNvPr>
          <p:cNvSpPr>
            <a:spLocks noGrp="1"/>
          </p:cNvSpPr>
          <p:nvPr>
            <p:ph idx="1"/>
          </p:nvPr>
        </p:nvSpPr>
        <p:spPr>
          <a:xfrm>
            <a:off x="1836733" y="2093976"/>
            <a:ext cx="8518533" cy="2980431"/>
          </a:xfrm>
        </p:spPr>
        <p:txBody>
          <a:bodyPr/>
          <a:lstStyle/>
          <a:p>
            <a:r>
              <a:rPr lang="en-US" b="1" dirty="0"/>
              <a:t>Hypothesis:</a:t>
            </a:r>
          </a:p>
          <a:p>
            <a:endParaRPr lang="en-US" dirty="0"/>
          </a:p>
          <a:p>
            <a:pPr lvl="1"/>
            <a:r>
              <a:rPr lang="en-US" i="1" dirty="0"/>
              <a:t>Increased daily testing rates correlate with a decrease in active cases over time due to early detection and isolation.</a:t>
            </a:r>
            <a:endParaRPr lang="en-US" dirty="0"/>
          </a:p>
          <a:p>
            <a:endParaRPr lang="en-US" dirty="0"/>
          </a:p>
        </p:txBody>
      </p:sp>
    </p:spTree>
    <p:extLst>
      <p:ext uri="{BB962C8B-B14F-4D97-AF65-F5344CB8AC3E}">
        <p14:creationId xmlns:p14="http://schemas.microsoft.com/office/powerpoint/2010/main" val="139790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4FD3-C3C8-BF4E-F167-44EE22E0D5FA}"/>
              </a:ext>
            </a:extLst>
          </p:cNvPr>
          <p:cNvSpPr>
            <a:spLocks noGrp="1"/>
          </p:cNvSpPr>
          <p:nvPr>
            <p:ph type="title"/>
          </p:nvPr>
        </p:nvSpPr>
        <p:spPr/>
        <p:txBody>
          <a:bodyPr>
            <a:normAutofit/>
          </a:bodyPr>
          <a:lstStyle/>
          <a:p>
            <a:r>
              <a:rPr lang="en-US" sz="4400" b="1" dirty="0"/>
              <a:t>Literature Review Summary</a:t>
            </a:r>
            <a:endParaRPr lang="en-US" sz="4400" dirty="0"/>
          </a:p>
        </p:txBody>
      </p:sp>
      <p:sp>
        <p:nvSpPr>
          <p:cNvPr id="3" name="Content Placeholder 2">
            <a:extLst>
              <a:ext uri="{FF2B5EF4-FFF2-40B4-BE49-F238E27FC236}">
                <a16:creationId xmlns:a16="http://schemas.microsoft.com/office/drawing/2014/main" id="{0D8B582D-6359-1B3D-FFD0-219931A523D3}"/>
              </a:ext>
            </a:extLst>
          </p:cNvPr>
          <p:cNvSpPr>
            <a:spLocks noGrp="1"/>
          </p:cNvSpPr>
          <p:nvPr>
            <p:ph idx="1"/>
          </p:nvPr>
        </p:nvSpPr>
        <p:spPr>
          <a:xfrm>
            <a:off x="2319570" y="2093976"/>
            <a:ext cx="7552859" cy="4050792"/>
          </a:xfrm>
        </p:spPr>
        <p:txBody>
          <a:bodyPr/>
          <a:lstStyle/>
          <a:p>
            <a:r>
              <a:rPr lang="en-US" dirty="0"/>
              <a:t>Global testing effectiveness</a:t>
            </a:r>
          </a:p>
          <a:p>
            <a:endParaRPr lang="en-US" dirty="0"/>
          </a:p>
          <a:p>
            <a:r>
              <a:rPr lang="en-US" dirty="0"/>
              <a:t>Reporting limitations</a:t>
            </a:r>
          </a:p>
          <a:p>
            <a:endParaRPr lang="en-US" dirty="0"/>
          </a:p>
          <a:p>
            <a:r>
              <a:rPr lang="en-US" dirty="0"/>
              <a:t>Hospitalization &amp; outcomes research</a:t>
            </a:r>
          </a:p>
          <a:p>
            <a:endParaRPr lang="en-US" dirty="0"/>
          </a:p>
          <a:p>
            <a:r>
              <a:rPr lang="en-US" dirty="0"/>
              <a:t>Policy interventions</a:t>
            </a:r>
          </a:p>
          <a:p>
            <a:endParaRPr lang="en-US" dirty="0"/>
          </a:p>
          <a:p>
            <a:r>
              <a:rPr lang="en-US" dirty="0"/>
              <a:t>Identified gaps → motivates this study</a:t>
            </a:r>
          </a:p>
          <a:p>
            <a:endParaRPr lang="en-US" dirty="0"/>
          </a:p>
        </p:txBody>
      </p:sp>
    </p:spTree>
    <p:extLst>
      <p:ext uri="{BB962C8B-B14F-4D97-AF65-F5344CB8AC3E}">
        <p14:creationId xmlns:p14="http://schemas.microsoft.com/office/powerpoint/2010/main" val="3104303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F1C2A-842C-5BD1-8163-591E7DF5AC50}"/>
              </a:ext>
            </a:extLst>
          </p:cNvPr>
          <p:cNvSpPr>
            <a:spLocks noGrp="1"/>
          </p:cNvSpPr>
          <p:nvPr>
            <p:ph type="title"/>
          </p:nvPr>
        </p:nvSpPr>
        <p:spPr/>
        <p:txBody>
          <a:bodyPr>
            <a:normAutofit/>
          </a:bodyPr>
          <a:lstStyle/>
          <a:p>
            <a:r>
              <a:rPr lang="en-US" sz="4400" b="1" dirty="0"/>
              <a:t>Testing, Outcomes &amp; Interventions</a:t>
            </a:r>
            <a:endParaRPr lang="en-US" sz="4400" dirty="0"/>
          </a:p>
        </p:txBody>
      </p:sp>
      <p:sp>
        <p:nvSpPr>
          <p:cNvPr id="3" name="Content Placeholder 2">
            <a:extLst>
              <a:ext uri="{FF2B5EF4-FFF2-40B4-BE49-F238E27FC236}">
                <a16:creationId xmlns:a16="http://schemas.microsoft.com/office/drawing/2014/main" id="{3B94D178-9738-FFD4-F406-47970E515183}"/>
              </a:ext>
            </a:extLst>
          </p:cNvPr>
          <p:cNvSpPr>
            <a:spLocks noGrp="1"/>
          </p:cNvSpPr>
          <p:nvPr>
            <p:ph idx="1"/>
          </p:nvPr>
        </p:nvSpPr>
        <p:spPr>
          <a:xfrm>
            <a:off x="1853825" y="2128416"/>
            <a:ext cx="8484350" cy="4050792"/>
          </a:xfrm>
        </p:spPr>
        <p:txBody>
          <a:bodyPr/>
          <a:lstStyle/>
          <a:p>
            <a:r>
              <a:rPr lang="en-US" dirty="0"/>
              <a:t>Early testing linked to reduced spread</a:t>
            </a:r>
          </a:p>
          <a:p>
            <a:endParaRPr lang="en-US" dirty="0"/>
          </a:p>
          <a:p>
            <a:r>
              <a:rPr lang="en-US" dirty="0"/>
              <a:t>Underreporting affected national statistics</a:t>
            </a:r>
          </a:p>
          <a:p>
            <a:endParaRPr lang="en-US" dirty="0"/>
          </a:p>
          <a:p>
            <a:r>
              <a:rPr lang="en-US" dirty="0"/>
              <a:t>Hospitals overwhelmed → higher mortality</a:t>
            </a:r>
          </a:p>
          <a:p>
            <a:endParaRPr lang="en-US" dirty="0"/>
          </a:p>
          <a:p>
            <a:r>
              <a:rPr lang="en-US" dirty="0"/>
              <a:t>Policies like lockdowns more effective with testing</a:t>
            </a:r>
          </a:p>
          <a:p>
            <a:endParaRPr lang="en-US" dirty="0"/>
          </a:p>
          <a:p>
            <a:r>
              <a:rPr lang="en-US" dirty="0"/>
              <a:t>Need for integrated analyses</a:t>
            </a:r>
          </a:p>
          <a:p>
            <a:pPr marL="0" indent="0">
              <a:buNone/>
            </a:pPr>
            <a:endParaRPr lang="en-US" dirty="0"/>
          </a:p>
        </p:txBody>
      </p:sp>
    </p:spTree>
    <p:extLst>
      <p:ext uri="{BB962C8B-B14F-4D97-AF65-F5344CB8AC3E}">
        <p14:creationId xmlns:p14="http://schemas.microsoft.com/office/powerpoint/2010/main" val="1633753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321F9-B7E4-1468-E24E-ADA2469C4E39}"/>
              </a:ext>
            </a:extLst>
          </p:cNvPr>
          <p:cNvSpPr>
            <a:spLocks noGrp="1"/>
          </p:cNvSpPr>
          <p:nvPr>
            <p:ph type="title"/>
          </p:nvPr>
        </p:nvSpPr>
        <p:spPr/>
        <p:txBody>
          <a:bodyPr>
            <a:normAutofit/>
          </a:bodyPr>
          <a:lstStyle/>
          <a:p>
            <a:r>
              <a:rPr lang="en-US" sz="4400" b="1" dirty="0"/>
              <a:t>Dataset Description</a:t>
            </a:r>
            <a:endParaRPr lang="en-US" sz="4400" dirty="0"/>
          </a:p>
        </p:txBody>
      </p:sp>
      <p:sp>
        <p:nvSpPr>
          <p:cNvPr id="3" name="Content Placeholder 2">
            <a:extLst>
              <a:ext uri="{FF2B5EF4-FFF2-40B4-BE49-F238E27FC236}">
                <a16:creationId xmlns:a16="http://schemas.microsoft.com/office/drawing/2014/main" id="{4353EAEF-8B1A-E93C-B163-83FB62E80375}"/>
              </a:ext>
            </a:extLst>
          </p:cNvPr>
          <p:cNvSpPr>
            <a:spLocks noGrp="1"/>
          </p:cNvSpPr>
          <p:nvPr>
            <p:ph idx="1"/>
          </p:nvPr>
        </p:nvSpPr>
        <p:spPr>
          <a:xfrm>
            <a:off x="2178565" y="2093976"/>
            <a:ext cx="7834870" cy="4050792"/>
          </a:xfrm>
        </p:spPr>
        <p:txBody>
          <a:bodyPr>
            <a:normAutofit fontScale="92500" lnSpcReduction="10000"/>
          </a:bodyPr>
          <a:lstStyle/>
          <a:p>
            <a:r>
              <a:rPr lang="en-US" dirty="0"/>
              <a:t>Kaggle dataset: COVID-19 Worldwide Testing Data</a:t>
            </a:r>
          </a:p>
          <a:p>
            <a:endParaRPr lang="en-US" dirty="0"/>
          </a:p>
          <a:p>
            <a:r>
              <a:rPr lang="en-US" dirty="0"/>
              <a:t>Daily observations for 100+ countries</a:t>
            </a:r>
          </a:p>
          <a:p>
            <a:endParaRPr lang="en-US" dirty="0"/>
          </a:p>
          <a:p>
            <a:r>
              <a:rPr lang="en-US" dirty="0"/>
              <a:t>Variables include:</a:t>
            </a:r>
          </a:p>
          <a:p>
            <a:pPr lvl="1"/>
            <a:r>
              <a:rPr lang="en-US" dirty="0"/>
              <a:t>daily tests</a:t>
            </a:r>
          </a:p>
          <a:p>
            <a:pPr lvl="1"/>
            <a:r>
              <a:rPr lang="en-US" dirty="0"/>
              <a:t>daily positives</a:t>
            </a:r>
          </a:p>
          <a:p>
            <a:pPr lvl="1"/>
            <a:r>
              <a:rPr lang="en-US" dirty="0"/>
              <a:t>active cases</a:t>
            </a:r>
          </a:p>
          <a:p>
            <a:pPr lvl="1"/>
            <a:r>
              <a:rPr lang="en-US" dirty="0"/>
              <a:t>deaths</a:t>
            </a:r>
          </a:p>
          <a:p>
            <a:pPr lvl="1"/>
            <a:r>
              <a:rPr lang="en-US" dirty="0"/>
              <a:t>Recoveries</a:t>
            </a:r>
          </a:p>
          <a:p>
            <a:pPr lvl="1"/>
            <a:endParaRPr lang="en-US" dirty="0"/>
          </a:p>
          <a:p>
            <a:r>
              <a:rPr lang="en-US" dirty="0"/>
              <a:t>Dates: early 2020 → late 2021</a:t>
            </a:r>
          </a:p>
          <a:p>
            <a:endParaRPr lang="en-US" dirty="0"/>
          </a:p>
        </p:txBody>
      </p:sp>
    </p:spTree>
    <p:extLst>
      <p:ext uri="{BB962C8B-B14F-4D97-AF65-F5344CB8AC3E}">
        <p14:creationId xmlns:p14="http://schemas.microsoft.com/office/powerpoint/2010/main" val="1880101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5882-5A93-A58F-4EB5-1773B37E70C9}"/>
              </a:ext>
            </a:extLst>
          </p:cNvPr>
          <p:cNvSpPr>
            <a:spLocks noGrp="1"/>
          </p:cNvSpPr>
          <p:nvPr>
            <p:ph type="title"/>
          </p:nvPr>
        </p:nvSpPr>
        <p:spPr/>
        <p:txBody>
          <a:bodyPr>
            <a:normAutofit/>
          </a:bodyPr>
          <a:lstStyle/>
          <a:p>
            <a:r>
              <a:rPr lang="en-US" sz="4400" b="1" dirty="0"/>
              <a:t>Data Cleaning &amp; Processing</a:t>
            </a:r>
            <a:endParaRPr lang="en-US" sz="4400" dirty="0"/>
          </a:p>
        </p:txBody>
      </p:sp>
      <p:sp>
        <p:nvSpPr>
          <p:cNvPr id="3" name="Content Placeholder 2">
            <a:extLst>
              <a:ext uri="{FF2B5EF4-FFF2-40B4-BE49-F238E27FC236}">
                <a16:creationId xmlns:a16="http://schemas.microsoft.com/office/drawing/2014/main" id="{E9F4333C-5829-977B-F6F3-FB8C689BAE59}"/>
              </a:ext>
            </a:extLst>
          </p:cNvPr>
          <p:cNvSpPr>
            <a:spLocks noGrp="1"/>
          </p:cNvSpPr>
          <p:nvPr>
            <p:ph idx="1"/>
          </p:nvPr>
        </p:nvSpPr>
        <p:spPr>
          <a:xfrm>
            <a:off x="2742587" y="2155591"/>
            <a:ext cx="6706825" cy="3578637"/>
          </a:xfrm>
        </p:spPr>
        <p:txBody>
          <a:bodyPr>
            <a:normAutofit lnSpcReduction="10000"/>
          </a:bodyPr>
          <a:lstStyle/>
          <a:p>
            <a:r>
              <a:rPr lang="en-US" dirty="0"/>
              <a:t>Removed negative/outlier values</a:t>
            </a:r>
          </a:p>
          <a:p>
            <a:endParaRPr lang="en-US" dirty="0"/>
          </a:p>
          <a:p>
            <a:r>
              <a:rPr lang="en-US" dirty="0"/>
              <a:t>Forward/backward filled missing values</a:t>
            </a:r>
          </a:p>
          <a:p>
            <a:endParaRPr lang="en-US" dirty="0"/>
          </a:p>
          <a:p>
            <a:r>
              <a:rPr lang="en-US" dirty="0"/>
              <a:t>Computed 7-day rolling averages</a:t>
            </a:r>
          </a:p>
          <a:p>
            <a:endParaRPr lang="en-US" dirty="0"/>
          </a:p>
          <a:p>
            <a:r>
              <a:rPr lang="en-US" dirty="0"/>
              <a:t>Created growth-rate variables</a:t>
            </a:r>
          </a:p>
          <a:p>
            <a:endParaRPr lang="en-US" dirty="0"/>
          </a:p>
          <a:p>
            <a:r>
              <a:rPr lang="en-US" dirty="0"/>
              <a:t>Added lags and leads for causal timing</a:t>
            </a:r>
          </a:p>
          <a:p>
            <a:endParaRPr lang="en-US" dirty="0"/>
          </a:p>
        </p:txBody>
      </p:sp>
    </p:spTree>
    <p:extLst>
      <p:ext uri="{BB962C8B-B14F-4D97-AF65-F5344CB8AC3E}">
        <p14:creationId xmlns:p14="http://schemas.microsoft.com/office/powerpoint/2010/main" val="3039549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0EB4-838C-82E6-2AC8-89929511ABEE}"/>
              </a:ext>
            </a:extLst>
          </p:cNvPr>
          <p:cNvSpPr>
            <a:spLocks noGrp="1"/>
          </p:cNvSpPr>
          <p:nvPr>
            <p:ph type="title"/>
          </p:nvPr>
        </p:nvSpPr>
        <p:spPr/>
        <p:txBody>
          <a:bodyPr>
            <a:normAutofit/>
          </a:bodyPr>
          <a:lstStyle/>
          <a:p>
            <a:r>
              <a:rPr lang="en-US" sz="4400" b="1" dirty="0"/>
              <a:t>Statistical Methods</a:t>
            </a:r>
            <a:endParaRPr lang="en-US" sz="4400" dirty="0"/>
          </a:p>
        </p:txBody>
      </p:sp>
      <p:sp>
        <p:nvSpPr>
          <p:cNvPr id="3" name="Content Placeholder 2">
            <a:extLst>
              <a:ext uri="{FF2B5EF4-FFF2-40B4-BE49-F238E27FC236}">
                <a16:creationId xmlns:a16="http://schemas.microsoft.com/office/drawing/2014/main" id="{FB89E229-1D78-6EFC-4AB9-74351B4580ED}"/>
              </a:ext>
            </a:extLst>
          </p:cNvPr>
          <p:cNvSpPr>
            <a:spLocks noGrp="1"/>
          </p:cNvSpPr>
          <p:nvPr>
            <p:ph idx="1"/>
          </p:nvPr>
        </p:nvSpPr>
        <p:spPr>
          <a:xfrm>
            <a:off x="2738314" y="2164137"/>
            <a:ext cx="6715371" cy="4050792"/>
          </a:xfrm>
        </p:spPr>
        <p:txBody>
          <a:bodyPr/>
          <a:lstStyle/>
          <a:p>
            <a:r>
              <a:rPr lang="en-US" dirty="0"/>
              <a:t>Fixed-effects panel regression</a:t>
            </a:r>
          </a:p>
          <a:p>
            <a:endParaRPr lang="en-US" dirty="0"/>
          </a:p>
          <a:p>
            <a:r>
              <a:rPr lang="en-US" dirty="0"/>
              <a:t>Clustered standard errors</a:t>
            </a:r>
          </a:p>
          <a:p>
            <a:endParaRPr lang="en-US" dirty="0"/>
          </a:p>
          <a:p>
            <a:r>
              <a:rPr lang="en-US" dirty="0"/>
              <a:t>Bootstrap resampling (1,000 samples)</a:t>
            </a:r>
          </a:p>
          <a:p>
            <a:endParaRPr lang="en-US" dirty="0"/>
          </a:p>
          <a:p>
            <a:r>
              <a:rPr lang="en-US" dirty="0"/>
              <a:t>Jackknife cross-country stability test</a:t>
            </a:r>
          </a:p>
          <a:p>
            <a:endParaRPr lang="en-US" dirty="0"/>
          </a:p>
          <a:p>
            <a:r>
              <a:rPr lang="en-US" dirty="0"/>
              <a:t>Distributed-lag estimation</a:t>
            </a:r>
          </a:p>
          <a:p>
            <a:endParaRPr lang="en-US" dirty="0"/>
          </a:p>
        </p:txBody>
      </p:sp>
    </p:spTree>
    <p:extLst>
      <p:ext uri="{BB962C8B-B14F-4D97-AF65-F5344CB8AC3E}">
        <p14:creationId xmlns:p14="http://schemas.microsoft.com/office/powerpoint/2010/main" val="346492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182743-4319-A320-A417-CD6EB0B6D3E6}"/>
              </a:ext>
            </a:extLst>
          </p:cNvPr>
          <p:cNvSpPr>
            <a:spLocks noGrp="1"/>
          </p:cNvSpPr>
          <p:nvPr>
            <p:ph type="title"/>
          </p:nvPr>
        </p:nvSpPr>
        <p:spPr>
          <a:xfrm>
            <a:off x="5195842" y="0"/>
            <a:ext cx="6995853" cy="1971964"/>
          </a:xfrm>
        </p:spPr>
        <p:txBody>
          <a:bodyPr>
            <a:normAutofit/>
          </a:bodyPr>
          <a:lstStyle/>
          <a:p>
            <a:r>
              <a:rPr lang="en-US" sz="4300" b="1" dirty="0"/>
              <a:t>Regression Summary Table</a:t>
            </a:r>
            <a:endParaRPr lang="en-US" sz="4300" dirty="0"/>
          </a:p>
        </p:txBody>
      </p:sp>
      <p:sp>
        <p:nvSpPr>
          <p:cNvPr id="12" name="Freeform: Shape 11">
            <a:extLst>
              <a:ext uri="{FF2B5EF4-FFF2-40B4-BE49-F238E27FC236}">
                <a16:creationId xmlns:a16="http://schemas.microsoft.com/office/drawing/2014/main" id="{E5821A2D-F010-4C2B-8819-23281D9C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5E25EA60-67FA-B72A-7D15-0F953DB8EE0D}"/>
              </a:ext>
            </a:extLst>
          </p:cNvPr>
          <p:cNvPicPr>
            <a:picLocks noChangeAspect="1"/>
          </p:cNvPicPr>
          <p:nvPr/>
        </p:nvPicPr>
        <p:blipFill>
          <a:blip r:embed="rId3"/>
          <a:stretch>
            <a:fillRect/>
          </a:stretch>
        </p:blipFill>
        <p:spPr>
          <a:xfrm>
            <a:off x="-394830" y="1578429"/>
            <a:ext cx="6095694" cy="8608561"/>
          </a:xfrm>
          <a:prstGeom prst="rect">
            <a:avLst/>
          </a:prstGeom>
        </p:spPr>
      </p:pic>
      <p:sp>
        <p:nvSpPr>
          <p:cNvPr id="3" name="Content Placeholder 2">
            <a:extLst>
              <a:ext uri="{FF2B5EF4-FFF2-40B4-BE49-F238E27FC236}">
                <a16:creationId xmlns:a16="http://schemas.microsoft.com/office/drawing/2014/main" id="{9A0090D7-41B0-7389-F8CC-9F305984D483}"/>
              </a:ext>
            </a:extLst>
          </p:cNvPr>
          <p:cNvSpPr>
            <a:spLocks noGrp="1"/>
          </p:cNvSpPr>
          <p:nvPr>
            <p:ph idx="1"/>
          </p:nvPr>
        </p:nvSpPr>
        <p:spPr>
          <a:xfrm>
            <a:off x="6888362" y="1571198"/>
            <a:ext cx="4741962" cy="3715603"/>
          </a:xfrm>
        </p:spPr>
        <p:txBody>
          <a:bodyPr>
            <a:normAutofit/>
          </a:bodyPr>
          <a:lstStyle/>
          <a:p>
            <a:r>
              <a:rPr lang="en-US" dirty="0"/>
              <a:t>Negative coefficient on lagged testing</a:t>
            </a:r>
          </a:p>
          <a:p>
            <a:r>
              <a:rPr lang="en-US" dirty="0"/>
              <a:t>Consistent across models</a:t>
            </a:r>
          </a:p>
          <a:p>
            <a:r>
              <a:rPr lang="en-US" dirty="0"/>
              <a:t>Effects appear after ~7 days</a:t>
            </a:r>
          </a:p>
          <a:p>
            <a:endParaRPr lang="en-US" dirty="0"/>
          </a:p>
        </p:txBody>
      </p:sp>
      <p:grpSp>
        <p:nvGrpSpPr>
          <p:cNvPr id="14" name="Group 13">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6" name="Oval 15">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301723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C79A9-C70E-1F60-05FD-3D97D0B3EEE8}"/>
              </a:ext>
            </a:extLst>
          </p:cNvPr>
          <p:cNvSpPr>
            <a:spLocks noGrp="1"/>
          </p:cNvSpPr>
          <p:nvPr>
            <p:ph type="title"/>
          </p:nvPr>
        </p:nvSpPr>
        <p:spPr>
          <a:xfrm>
            <a:off x="68366" y="798394"/>
            <a:ext cx="6180368" cy="1637730"/>
          </a:xfrm>
        </p:spPr>
        <p:txBody>
          <a:bodyPr>
            <a:normAutofit/>
          </a:bodyPr>
          <a:lstStyle/>
          <a:p>
            <a:r>
              <a:rPr lang="en-US" sz="4000" b="1" dirty="0"/>
              <a:t>Bootstrap Distribution</a:t>
            </a:r>
            <a:endParaRPr lang="en-US" sz="4000" dirty="0"/>
          </a:p>
        </p:txBody>
      </p:sp>
      <p:sp>
        <p:nvSpPr>
          <p:cNvPr id="3" name="Content Placeholder 2">
            <a:extLst>
              <a:ext uri="{FF2B5EF4-FFF2-40B4-BE49-F238E27FC236}">
                <a16:creationId xmlns:a16="http://schemas.microsoft.com/office/drawing/2014/main" id="{928AF629-C057-DAD9-A80A-914F547FA4AC}"/>
              </a:ext>
            </a:extLst>
          </p:cNvPr>
          <p:cNvSpPr>
            <a:spLocks noGrp="1"/>
          </p:cNvSpPr>
          <p:nvPr>
            <p:ph idx="1"/>
          </p:nvPr>
        </p:nvSpPr>
        <p:spPr>
          <a:xfrm>
            <a:off x="1069848" y="2578608"/>
            <a:ext cx="4730451" cy="3593592"/>
          </a:xfrm>
        </p:spPr>
        <p:txBody>
          <a:bodyPr>
            <a:normAutofit/>
          </a:bodyPr>
          <a:lstStyle/>
          <a:p>
            <a:r>
              <a:rPr lang="en-US" sz="1800"/>
              <a:t>Centered on negative effect</a:t>
            </a:r>
          </a:p>
          <a:p>
            <a:r>
              <a:rPr lang="en-US" sz="1800"/>
              <a:t>Smooth distribution → stable results</a:t>
            </a:r>
          </a:p>
          <a:p>
            <a:endParaRPr lang="en-US" sz="1800"/>
          </a:p>
        </p:txBody>
      </p:sp>
      <p:sp>
        <p:nvSpPr>
          <p:cNvPr id="11" name="Freeform: Shape 10">
            <a:extLst>
              <a:ext uri="{FF2B5EF4-FFF2-40B4-BE49-F238E27FC236}">
                <a16:creationId xmlns:a16="http://schemas.microsoft.com/office/drawing/2014/main" id="{B16070FD-9EB8-4AC8-A8E2-267228385B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4" y="0"/>
            <a:ext cx="627887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2E50E60D-5301-7BC6-6DDA-8CFEC45EB483}"/>
              </a:ext>
            </a:extLst>
          </p:cNvPr>
          <p:cNvPicPr>
            <a:picLocks noChangeAspect="1"/>
          </p:cNvPicPr>
          <p:nvPr/>
        </p:nvPicPr>
        <p:blipFill>
          <a:blip r:embed="rId3"/>
          <a:stretch>
            <a:fillRect/>
          </a:stretch>
        </p:blipFill>
        <p:spPr>
          <a:xfrm>
            <a:off x="6584344" y="330308"/>
            <a:ext cx="5466142" cy="3468806"/>
          </a:xfrm>
          <a:prstGeom prst="rect">
            <a:avLst/>
          </a:prstGeom>
        </p:spPr>
      </p:pic>
    </p:spTree>
    <p:extLst>
      <p:ext uri="{BB962C8B-B14F-4D97-AF65-F5344CB8AC3E}">
        <p14:creationId xmlns:p14="http://schemas.microsoft.com/office/powerpoint/2010/main" val="2326811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CF1D28-3FA9-E51F-E634-1166C32A5055}"/>
              </a:ext>
            </a:extLst>
          </p:cNvPr>
          <p:cNvSpPr>
            <a:spLocks noGrp="1"/>
          </p:cNvSpPr>
          <p:nvPr>
            <p:ph type="title"/>
          </p:nvPr>
        </p:nvSpPr>
        <p:spPr>
          <a:xfrm>
            <a:off x="5853870" y="1382165"/>
            <a:ext cx="6195700" cy="1517984"/>
          </a:xfrm>
        </p:spPr>
        <p:txBody>
          <a:bodyPr>
            <a:normAutofit/>
          </a:bodyPr>
          <a:lstStyle/>
          <a:p>
            <a:r>
              <a:rPr lang="en-US" sz="4400" b="1" dirty="0">
                <a:solidFill>
                  <a:schemeClr val="tx1"/>
                </a:solidFill>
              </a:rPr>
              <a:t>Jackknife Distribution</a:t>
            </a:r>
            <a:endParaRPr lang="en-US" sz="4400" dirty="0">
              <a:solidFill>
                <a:schemeClr val="tx1"/>
              </a:solidFill>
            </a:endParaRPr>
          </a:p>
        </p:txBody>
      </p:sp>
      <p:sp>
        <p:nvSpPr>
          <p:cNvPr id="12" name="Freeform: Shape 11">
            <a:extLst>
              <a:ext uri="{FF2B5EF4-FFF2-40B4-BE49-F238E27FC236}">
                <a16:creationId xmlns:a16="http://schemas.microsoft.com/office/drawing/2014/main" id="{7EC0D68F-F813-4414-800D-F8D4F0AB8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D43293E0-DC03-3081-7CD2-BF2D70F658D3}"/>
              </a:ext>
            </a:extLst>
          </p:cNvPr>
          <p:cNvPicPr>
            <a:picLocks noChangeAspect="1"/>
          </p:cNvPicPr>
          <p:nvPr/>
        </p:nvPicPr>
        <p:blipFill>
          <a:blip r:embed="rId3"/>
          <a:stretch>
            <a:fillRect/>
          </a:stretch>
        </p:blipFill>
        <p:spPr>
          <a:xfrm>
            <a:off x="-9866" y="2438399"/>
            <a:ext cx="5203371" cy="3548743"/>
          </a:xfrm>
          <a:prstGeom prst="rect">
            <a:avLst/>
          </a:prstGeom>
        </p:spPr>
      </p:pic>
      <p:sp>
        <p:nvSpPr>
          <p:cNvPr id="3" name="Content Placeholder 2">
            <a:extLst>
              <a:ext uri="{FF2B5EF4-FFF2-40B4-BE49-F238E27FC236}">
                <a16:creationId xmlns:a16="http://schemas.microsoft.com/office/drawing/2014/main" id="{E9B11DD8-7FC9-6451-04A5-75BD5DE546E7}"/>
              </a:ext>
            </a:extLst>
          </p:cNvPr>
          <p:cNvSpPr>
            <a:spLocks noGrp="1"/>
          </p:cNvSpPr>
          <p:nvPr>
            <p:ph idx="1"/>
          </p:nvPr>
        </p:nvSpPr>
        <p:spPr>
          <a:xfrm>
            <a:off x="6587545" y="3007389"/>
            <a:ext cx="4869179" cy="3065865"/>
          </a:xfrm>
        </p:spPr>
        <p:txBody>
          <a:bodyPr anchor="t">
            <a:normAutofit/>
          </a:bodyPr>
          <a:lstStyle/>
          <a:p>
            <a:r>
              <a:rPr lang="en-US" sz="1800"/>
              <a:t>Dropping one country at a time</a:t>
            </a:r>
          </a:p>
          <a:p>
            <a:r>
              <a:rPr lang="en-US" sz="1800"/>
              <a:t>Coefficients remain consistent</a:t>
            </a:r>
          </a:p>
          <a:p>
            <a:endParaRPr lang="en-US" sz="1800"/>
          </a:p>
        </p:txBody>
      </p:sp>
      <p:grpSp>
        <p:nvGrpSpPr>
          <p:cNvPr id="14" name="Group 13">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6" name="Oval 15">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3194635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A6C9-165D-8675-D774-D0577482D0D1}"/>
              </a:ext>
            </a:extLst>
          </p:cNvPr>
          <p:cNvSpPr>
            <a:spLocks noGrp="1"/>
          </p:cNvSpPr>
          <p:nvPr>
            <p:ph type="title"/>
          </p:nvPr>
        </p:nvSpPr>
        <p:spPr>
          <a:xfrm>
            <a:off x="1069848" y="484632"/>
            <a:ext cx="10058400" cy="1609344"/>
          </a:xfrm>
        </p:spPr>
        <p:txBody>
          <a:bodyPr>
            <a:normAutofit/>
          </a:bodyPr>
          <a:lstStyle/>
          <a:p>
            <a:r>
              <a:rPr lang="en-US" sz="4400" b="1" dirty="0"/>
              <a:t>Timing of Testing Effects - </a:t>
            </a:r>
            <a:r>
              <a:rPr lang="en-US" sz="1600" b="1" dirty="0"/>
              <a:t>Distributed-Lag Effects</a:t>
            </a:r>
            <a:endParaRPr lang="en-US" sz="4400" dirty="0"/>
          </a:p>
        </p:txBody>
      </p:sp>
      <p:sp>
        <p:nvSpPr>
          <p:cNvPr id="3" name="Content Placeholder 2">
            <a:extLst>
              <a:ext uri="{FF2B5EF4-FFF2-40B4-BE49-F238E27FC236}">
                <a16:creationId xmlns:a16="http://schemas.microsoft.com/office/drawing/2014/main" id="{94991300-BA57-6513-84A8-B455A8C8083F}"/>
              </a:ext>
            </a:extLst>
          </p:cNvPr>
          <p:cNvSpPr>
            <a:spLocks noGrp="1"/>
          </p:cNvSpPr>
          <p:nvPr>
            <p:ph idx="1"/>
          </p:nvPr>
        </p:nvSpPr>
        <p:spPr>
          <a:xfrm>
            <a:off x="1069848" y="2121408"/>
            <a:ext cx="4773168" cy="4050792"/>
          </a:xfrm>
        </p:spPr>
        <p:txBody>
          <a:bodyPr>
            <a:normAutofit/>
          </a:bodyPr>
          <a:lstStyle/>
          <a:p>
            <a:r>
              <a:rPr lang="en-US" dirty="0"/>
              <a:t>Strongest effects at 7–14 days</a:t>
            </a:r>
          </a:p>
          <a:p>
            <a:r>
              <a:rPr lang="en-US" dirty="0"/>
              <a:t>Matches infection cycle</a:t>
            </a:r>
          </a:p>
          <a:p>
            <a:endParaRPr lang="en-US" dirty="0"/>
          </a:p>
        </p:txBody>
      </p:sp>
      <p:pic>
        <p:nvPicPr>
          <p:cNvPr id="5" name="Picture 4">
            <a:extLst>
              <a:ext uri="{FF2B5EF4-FFF2-40B4-BE49-F238E27FC236}">
                <a16:creationId xmlns:a16="http://schemas.microsoft.com/office/drawing/2014/main" id="{5349DEAB-8F4E-68D7-6E96-0C1895C0ABFB}"/>
              </a:ext>
            </a:extLst>
          </p:cNvPr>
          <p:cNvPicPr>
            <a:picLocks noChangeAspect="1"/>
          </p:cNvPicPr>
          <p:nvPr/>
        </p:nvPicPr>
        <p:blipFill>
          <a:blip r:embed="rId3"/>
          <a:stretch>
            <a:fillRect/>
          </a:stretch>
        </p:blipFill>
        <p:spPr>
          <a:xfrm>
            <a:off x="5203371" y="2644412"/>
            <a:ext cx="5924877" cy="3077935"/>
          </a:xfrm>
          <a:prstGeom prst="rect">
            <a:avLst/>
          </a:prstGeom>
        </p:spPr>
      </p:pic>
    </p:spTree>
    <p:extLst>
      <p:ext uri="{BB962C8B-B14F-4D97-AF65-F5344CB8AC3E}">
        <p14:creationId xmlns:p14="http://schemas.microsoft.com/office/powerpoint/2010/main" val="4139703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383973-4DA1-3C27-3A1D-86682685321A}"/>
              </a:ext>
            </a:extLst>
          </p:cNvPr>
          <p:cNvSpPr>
            <a:spLocks noGrp="1"/>
          </p:cNvSpPr>
          <p:nvPr>
            <p:ph type="title"/>
          </p:nvPr>
        </p:nvSpPr>
        <p:spPr>
          <a:xfrm>
            <a:off x="5118931" y="784746"/>
            <a:ext cx="7079887" cy="1517984"/>
          </a:xfrm>
        </p:spPr>
        <p:txBody>
          <a:bodyPr>
            <a:normAutofit/>
          </a:bodyPr>
          <a:lstStyle/>
          <a:p>
            <a:r>
              <a:rPr lang="en-US" sz="4400" b="1" dirty="0">
                <a:solidFill>
                  <a:schemeClr val="tx1"/>
                </a:solidFill>
              </a:rPr>
              <a:t>Within-Country Binned 	Scatter</a:t>
            </a:r>
            <a:endParaRPr lang="en-US" sz="4400" dirty="0">
              <a:solidFill>
                <a:schemeClr val="tx1"/>
              </a:solidFill>
            </a:endParaRPr>
          </a:p>
        </p:txBody>
      </p:sp>
      <p:sp>
        <p:nvSpPr>
          <p:cNvPr id="12" name="Freeform: Shape 11">
            <a:extLst>
              <a:ext uri="{FF2B5EF4-FFF2-40B4-BE49-F238E27FC236}">
                <a16:creationId xmlns:a16="http://schemas.microsoft.com/office/drawing/2014/main" id="{7EC0D68F-F813-4414-800D-F8D4F0AB8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33B888A9-B7DC-64DA-2884-ACD152156666}"/>
              </a:ext>
            </a:extLst>
          </p:cNvPr>
          <p:cNvPicPr>
            <a:picLocks noChangeAspect="1"/>
          </p:cNvPicPr>
          <p:nvPr/>
        </p:nvPicPr>
        <p:blipFill>
          <a:blip r:embed="rId3"/>
          <a:stretch>
            <a:fillRect/>
          </a:stretch>
        </p:blipFill>
        <p:spPr>
          <a:xfrm>
            <a:off x="-19731" y="2884381"/>
            <a:ext cx="5326670" cy="2909668"/>
          </a:xfrm>
          <a:prstGeom prst="rect">
            <a:avLst/>
          </a:prstGeom>
        </p:spPr>
      </p:pic>
      <p:sp>
        <p:nvSpPr>
          <p:cNvPr id="3" name="Content Placeholder 2">
            <a:extLst>
              <a:ext uri="{FF2B5EF4-FFF2-40B4-BE49-F238E27FC236}">
                <a16:creationId xmlns:a16="http://schemas.microsoft.com/office/drawing/2014/main" id="{E70202EF-C685-5E09-4D56-BE43D0A2517D}"/>
              </a:ext>
            </a:extLst>
          </p:cNvPr>
          <p:cNvSpPr>
            <a:spLocks noGrp="1"/>
          </p:cNvSpPr>
          <p:nvPr>
            <p:ph idx="1"/>
          </p:nvPr>
        </p:nvSpPr>
        <p:spPr>
          <a:xfrm>
            <a:off x="6587545" y="3007389"/>
            <a:ext cx="4869179" cy="3065865"/>
          </a:xfrm>
        </p:spPr>
        <p:txBody>
          <a:bodyPr anchor="t">
            <a:normAutofit/>
          </a:bodyPr>
          <a:lstStyle/>
          <a:p>
            <a:r>
              <a:rPr lang="en-US" sz="1800" dirty="0"/>
              <a:t>Clear downward slope</a:t>
            </a:r>
          </a:p>
          <a:p>
            <a:r>
              <a:rPr lang="en-US" sz="1800" dirty="0"/>
              <a:t>Higher testing → lower growth</a:t>
            </a:r>
          </a:p>
          <a:p>
            <a:endParaRPr lang="en-US" sz="1800" dirty="0"/>
          </a:p>
        </p:txBody>
      </p:sp>
      <p:grpSp>
        <p:nvGrpSpPr>
          <p:cNvPr id="14" name="Group 13">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6" name="Oval 15">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603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EDF16-54AA-1908-1427-91944B673C0D}"/>
              </a:ext>
            </a:extLst>
          </p:cNvPr>
          <p:cNvSpPr>
            <a:spLocks noGrp="1"/>
          </p:cNvSpPr>
          <p:nvPr>
            <p:ph type="title"/>
          </p:nvPr>
        </p:nvSpPr>
        <p:spPr>
          <a:xfrm>
            <a:off x="1069848" y="484632"/>
            <a:ext cx="10058400" cy="1609344"/>
          </a:xfrm>
        </p:spPr>
        <p:txBody>
          <a:bodyPr>
            <a:normAutofit/>
          </a:bodyPr>
          <a:lstStyle/>
          <a:p>
            <a:r>
              <a:rPr lang="en-US" b="1"/>
              <a:t>Interpretation of Findings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5956FBF-866D-7F93-43E1-EF0D02DE8A87}"/>
              </a:ext>
            </a:extLst>
          </p:cNvPr>
          <p:cNvGraphicFramePr>
            <a:graphicFrameLocks noGrp="1"/>
          </p:cNvGraphicFramePr>
          <p:nvPr>
            <p:ph idx="1"/>
            <p:extLst>
              <p:ext uri="{D42A27DB-BD31-4B8C-83A1-F6EECF244321}">
                <p14:modId xmlns:p14="http://schemas.microsoft.com/office/powerpoint/2010/main" val="2723141484"/>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41811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7431-6BAA-99FA-3E33-0ABF10A2D360}"/>
              </a:ext>
            </a:extLst>
          </p:cNvPr>
          <p:cNvSpPr>
            <a:spLocks noGrp="1"/>
          </p:cNvSpPr>
          <p:nvPr>
            <p:ph type="title"/>
          </p:nvPr>
        </p:nvSpPr>
        <p:spPr>
          <a:xfrm>
            <a:off x="1069848" y="484632"/>
            <a:ext cx="10058400" cy="1609344"/>
          </a:xfrm>
        </p:spPr>
        <p:txBody>
          <a:bodyPr>
            <a:normAutofit/>
          </a:bodyPr>
          <a:lstStyle/>
          <a:p>
            <a:r>
              <a:rPr lang="en-US" b="1"/>
              <a:t>Study Limitations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56D5308-CA89-337F-C4D9-5528754B043F}"/>
              </a:ext>
            </a:extLst>
          </p:cNvPr>
          <p:cNvGraphicFramePr>
            <a:graphicFrameLocks noGrp="1"/>
          </p:cNvGraphicFramePr>
          <p:nvPr>
            <p:ph idx="1"/>
            <p:extLst>
              <p:ext uri="{D42A27DB-BD31-4B8C-83A1-F6EECF244321}">
                <p14:modId xmlns:p14="http://schemas.microsoft.com/office/powerpoint/2010/main" val="731584090"/>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425553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907D-432B-558C-4381-F64B47092B77}"/>
              </a:ext>
            </a:extLst>
          </p:cNvPr>
          <p:cNvSpPr>
            <a:spLocks noGrp="1"/>
          </p:cNvSpPr>
          <p:nvPr>
            <p:ph type="title"/>
          </p:nvPr>
        </p:nvSpPr>
        <p:spPr>
          <a:xfrm>
            <a:off x="1069848" y="484632"/>
            <a:ext cx="10058400" cy="1609344"/>
          </a:xfrm>
        </p:spPr>
        <p:txBody>
          <a:bodyPr>
            <a:normAutofit/>
          </a:bodyPr>
          <a:lstStyle/>
          <a:p>
            <a:r>
              <a:rPr lang="en-US" b="1"/>
              <a:t>Conclusion</a:t>
            </a:r>
            <a:endParaRPr lang="en-US"/>
          </a:p>
        </p:txBody>
      </p:sp>
      <p:sp>
        <p:nvSpPr>
          <p:cNvPr id="14" name="Rectangle 13">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5982FC0-D296-8A68-DC1A-CBA8334EEFC5}"/>
              </a:ext>
            </a:extLst>
          </p:cNvPr>
          <p:cNvGraphicFramePr>
            <a:graphicFrameLocks noGrp="1"/>
          </p:cNvGraphicFramePr>
          <p:nvPr>
            <p:ph idx="1"/>
            <p:extLst>
              <p:ext uri="{D42A27DB-BD31-4B8C-83A1-F6EECF244321}">
                <p14:modId xmlns:p14="http://schemas.microsoft.com/office/powerpoint/2010/main" val="2615987424"/>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823432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7571-39C8-7D6E-5B36-2A1C1AB493C4}"/>
              </a:ext>
            </a:extLst>
          </p:cNvPr>
          <p:cNvSpPr>
            <a:spLocks noGrp="1"/>
          </p:cNvSpPr>
          <p:nvPr>
            <p:ph type="title"/>
          </p:nvPr>
        </p:nvSpPr>
        <p:spPr>
          <a:xfrm>
            <a:off x="1069848" y="484632"/>
            <a:ext cx="10058400" cy="1609344"/>
          </a:xfrm>
        </p:spPr>
        <p:txBody>
          <a:bodyPr>
            <a:normAutofit/>
          </a:bodyPr>
          <a:lstStyle/>
          <a:p>
            <a:r>
              <a:rPr lang="en-US" b="1"/>
              <a:t>Future Directions</a:t>
            </a:r>
            <a:endParaRPr lang="en-US"/>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E2726BA-50DA-5B11-7B8A-6A5902C74959}"/>
              </a:ext>
            </a:extLst>
          </p:cNvPr>
          <p:cNvGraphicFramePr>
            <a:graphicFrameLocks noGrp="1"/>
          </p:cNvGraphicFramePr>
          <p:nvPr>
            <p:ph idx="1"/>
            <p:extLst>
              <p:ext uri="{D42A27DB-BD31-4B8C-83A1-F6EECF244321}">
                <p14:modId xmlns:p14="http://schemas.microsoft.com/office/powerpoint/2010/main" val="350055966"/>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982549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F75F03-300D-E397-312D-E68FC46B0118}"/>
              </a:ext>
            </a:extLst>
          </p:cNvPr>
          <p:cNvSpPr>
            <a:spLocks noGrp="1"/>
          </p:cNvSpPr>
          <p:nvPr>
            <p:ph type="title"/>
          </p:nvPr>
        </p:nvSpPr>
        <p:spPr>
          <a:xfrm>
            <a:off x="382280" y="484632"/>
            <a:ext cx="6743844" cy="1609344"/>
          </a:xfrm>
        </p:spPr>
        <p:txBody>
          <a:bodyPr>
            <a:normAutofit/>
          </a:bodyPr>
          <a:lstStyle/>
          <a:p>
            <a:r>
              <a:rPr lang="en-US" sz="4800" b="1"/>
              <a:t>Thank You</a:t>
            </a:r>
            <a:endParaRPr lang="en-US" sz="4800"/>
          </a:p>
        </p:txBody>
      </p:sp>
      <p:sp>
        <p:nvSpPr>
          <p:cNvPr id="3" name="Content Placeholder 2">
            <a:extLst>
              <a:ext uri="{FF2B5EF4-FFF2-40B4-BE49-F238E27FC236}">
                <a16:creationId xmlns:a16="http://schemas.microsoft.com/office/drawing/2014/main" id="{4114491C-6ECC-BA8C-33A9-625C0E9BA254}"/>
              </a:ext>
            </a:extLst>
          </p:cNvPr>
          <p:cNvSpPr>
            <a:spLocks noGrp="1"/>
          </p:cNvSpPr>
          <p:nvPr>
            <p:ph idx="1"/>
          </p:nvPr>
        </p:nvSpPr>
        <p:spPr>
          <a:xfrm>
            <a:off x="382279" y="2121408"/>
            <a:ext cx="6743845" cy="4050792"/>
          </a:xfrm>
        </p:spPr>
        <p:txBody>
          <a:bodyPr>
            <a:normAutofit/>
          </a:bodyPr>
          <a:lstStyle/>
          <a:p>
            <a:r>
              <a:rPr lang="en-US" sz="1800"/>
              <a:t>Thank you for listening.</a:t>
            </a:r>
          </a:p>
          <a:p>
            <a:endParaRPr lang="en-US" sz="1800"/>
          </a:p>
        </p:txBody>
      </p:sp>
      <p:pic>
        <p:nvPicPr>
          <p:cNvPr id="7" name="Graphic 6" descr="Grinning Face with No Fill">
            <a:extLst>
              <a:ext uri="{FF2B5EF4-FFF2-40B4-BE49-F238E27FC236}">
                <a16:creationId xmlns:a16="http://schemas.microsoft.com/office/drawing/2014/main" id="{6F45CEEC-D0E4-74E2-942A-475901EDAD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03460" y="1595727"/>
            <a:ext cx="3369177" cy="3369177"/>
          </a:xfrm>
          <a:prstGeom prst="rect">
            <a:avLst/>
          </a:prstGeom>
        </p:spPr>
      </p:pic>
      <p:grpSp>
        <p:nvGrpSpPr>
          <p:cNvPr id="17" name="Group 16">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7">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2013979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104</TotalTime>
  <Words>1147</Words>
  <Application>Microsoft Macintosh PowerPoint</Application>
  <PresentationFormat>Widescreen</PresentationFormat>
  <Paragraphs>147</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Calibri</vt:lpstr>
      <vt:lpstr>Rockwell</vt:lpstr>
      <vt:lpstr>Rockwell Condensed</vt:lpstr>
      <vt:lpstr>Rockwell Extra Bold</vt:lpstr>
      <vt:lpstr>Wingdings</vt:lpstr>
      <vt:lpstr>Wood Type</vt:lpstr>
      <vt:lpstr>  Investigating COVID-19 Virus Trends </vt:lpstr>
      <vt:lpstr>Background &amp; Research Motivation</vt:lpstr>
      <vt:lpstr>Research Problem &amp; Significance</vt:lpstr>
      <vt:lpstr>Hypothesis</vt:lpstr>
      <vt:lpstr>Literature Review Summary</vt:lpstr>
      <vt:lpstr>Testing, Outcomes &amp; Interventions</vt:lpstr>
      <vt:lpstr>Dataset Description</vt:lpstr>
      <vt:lpstr>Data Cleaning &amp; Processing</vt:lpstr>
      <vt:lpstr>Statistical Methods</vt:lpstr>
      <vt:lpstr>Regression Summary Table</vt:lpstr>
      <vt:lpstr>Bootstrap Distribution</vt:lpstr>
      <vt:lpstr>Jackknife Distribution</vt:lpstr>
      <vt:lpstr>Timing of Testing Effects - Distributed-Lag Effects</vt:lpstr>
      <vt:lpstr>Within-Country Binned  Scatter</vt:lpstr>
      <vt:lpstr>Interpretation of Findings</vt:lpstr>
      <vt:lpstr>Study Limitations</vt:lpstr>
      <vt:lpstr>Conclusion</vt:lpstr>
      <vt:lpstr>Future Directions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Cung, Debbie Zachi</dc:creator>
  <cp:lastModifiedBy>Cung, Debbie Zachi</cp:lastModifiedBy>
  <cp:revision>29</cp:revision>
  <dcterms:created xsi:type="dcterms:W3CDTF">2025-11-13T19:18:49Z</dcterms:created>
  <dcterms:modified xsi:type="dcterms:W3CDTF">2025-11-13T21:03:16Z</dcterms:modified>
</cp:coreProperties>
</file>